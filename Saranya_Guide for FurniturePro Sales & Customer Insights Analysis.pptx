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34"/>
  </p:notesMasterIdLst>
  <p:handoutMasterIdLst>
    <p:handoutMasterId r:id="rId35"/>
  </p:handoutMasterIdLst>
  <p:sldIdLst>
    <p:sldId id="2531" r:id="rId6"/>
    <p:sldId id="2431" r:id="rId7"/>
    <p:sldId id="2559" r:id="rId8"/>
    <p:sldId id="2532" r:id="rId9"/>
    <p:sldId id="2535" r:id="rId10"/>
    <p:sldId id="2537" r:id="rId11"/>
    <p:sldId id="2534" r:id="rId12"/>
    <p:sldId id="2538" r:id="rId13"/>
    <p:sldId id="2536" r:id="rId14"/>
    <p:sldId id="2539" r:id="rId15"/>
    <p:sldId id="2540" r:id="rId16"/>
    <p:sldId id="2558" r:id="rId17"/>
    <p:sldId id="2541" r:id="rId18"/>
    <p:sldId id="2544" r:id="rId19"/>
    <p:sldId id="2543" r:id="rId20"/>
    <p:sldId id="2545" r:id="rId21"/>
    <p:sldId id="2546" r:id="rId22"/>
    <p:sldId id="2547" r:id="rId23"/>
    <p:sldId id="2548" r:id="rId24"/>
    <p:sldId id="2549" r:id="rId25"/>
    <p:sldId id="2550" r:id="rId26"/>
    <p:sldId id="2551" r:id="rId27"/>
    <p:sldId id="2552" r:id="rId28"/>
    <p:sldId id="2553" r:id="rId29"/>
    <p:sldId id="2554" r:id="rId30"/>
    <p:sldId id="2556" r:id="rId31"/>
    <p:sldId id="2555" r:id="rId32"/>
    <p:sldId id="255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74"/>
  </p:normalViewPr>
  <p:slideViewPr>
    <p:cSldViewPr snapToGrid="0" snapToObjects="1" showGuides="1">
      <p:cViewPr varScale="1">
        <p:scale>
          <a:sx n="59" d="100"/>
          <a:sy n="59" d="100"/>
        </p:scale>
        <p:origin x="964" y="28"/>
      </p:cViewPr>
      <p:guideLst>
        <p:guide orient="horz" pos="211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018837-64B5-4E20-83A5-89B993CB3C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2A4FB-A56B-4413-A08B-0E9894B98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8B25D-8766-427E-8C9E-4845048D8DFC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77F36-950D-4655-BC4A-F80BE1DBF7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246FD-229D-4B04-9855-212AD8D784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8A28B-0568-4092-BB1A-13C9B073E3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52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F439B-391B-4B41-826A-951FCF412C34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A0038-7055-434C-B6C4-B8C69565C60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86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746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272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B8B0D-FB3F-C040-EB2F-9226926D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6863A-D0BA-D361-E958-2F0117734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19B8D-392F-59BE-4485-6D750801B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4256E-8722-3E5E-63E5-F5C67CEF9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305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3D154-093F-A864-1645-E295D4BF3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F989E-6119-BE2A-EE42-915490979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61843-4FEC-C742-5C2A-4DE47BB26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DD29C-DB34-CE4E-C0DC-B2B705CEA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406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F2DD3-5981-3158-CCF2-F3C3131F6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E7C7C6-686C-8CCD-8568-F2F4DF698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0E464-3870-2091-E3BF-6E9742826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C918F-50A6-1177-93BF-1EB3603AF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985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A9F92-F093-1881-36DE-15D7689A4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5AB87-1FC7-1C8F-E49C-66D6E372A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5105F-6E1E-5CB8-CBBE-5F65E3067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F68CB-B97E-8610-5BDA-608CD0750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530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14D84-5CCD-0443-4821-0332E0DB4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BD5E5-1BF9-6F8A-182E-01D124CB9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E9810-4B14-B8BE-90F3-D0FF28F27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55FD4-CD91-D6F9-73CC-2D6DD8BE0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875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D9BE5-B7A1-CBE0-2676-90FA07502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060F4-948A-1E8E-517B-16DC6480C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39773-BF82-F68F-8E7F-1D9FF9A3D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DD2DA-587C-2DFA-7634-554C27865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184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F2B3-629C-EE3A-033C-D0E411B81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B703A-F466-131C-AC4A-6772320F1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1F8F4-C076-E555-232D-B1723B0A7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2EF9F-1BC2-9625-DFE8-3ACA70F67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553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97EF6-754E-8AD5-6346-35D1FF1F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62F174-652D-A9C8-5A1A-C50DAD738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CF2A0-994A-6017-79B8-59A4909C7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6C6EE-D526-CE77-BD73-D0AC08B22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686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BD0E2-E3D4-E84D-2A01-BA967F04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223BD-52F4-F69E-4C24-C1F31225E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9B551-48CE-D75C-0254-9DC91945A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CA4F2-0949-0E06-B332-1E21D6A7F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900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FD8F3-3C00-5696-49A6-6D717C36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BD527-11BC-DAE3-A209-2ED7AC360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7841D-6DF0-38BD-0180-CBA2F3C34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A2AD3-C651-4263-0D0A-33588605E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962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EACDB-BA4A-BD8C-78FD-910FC6E81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17191-063A-3CCE-F75D-9A70707B6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D9736-6DB3-E946-026A-A7D06EBCD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685E5-5152-3660-D094-2EAE7F1F3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879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A34A-90A2-55F8-7D92-FF402CD2C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2A9A2-E2BC-AE37-D2DA-EA3278C11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825E7-09AD-91C8-BF87-FD4981BE2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4AFD5-F399-24B8-829A-035966142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847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F9A9B-859E-7908-7C46-825B6D23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F5E18-FC12-BEB9-6666-D680C159D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9C48F-FEF1-F6BB-0D83-A2663BE67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84914-FB43-3497-5B75-2B21E590F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3541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C42E2-F9F2-B613-6456-A69F89C34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78B6A-D0BD-2AE0-F6C0-1ECB43EC0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A17B8E-37A7-EAC9-DA7E-28897DA73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A1960-C6F6-721D-62D7-274A74EFF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6333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76AAB-9C9B-9019-2DA3-2F15BC83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5F671-9214-488D-C95A-D2A6860B2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D92B0-96B6-CE54-5D05-0E2740766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B9EF2-16D1-CC0F-1A8A-7C43643E9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0995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73461-DA34-8F9A-1774-BF88A4A33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6BE42-CF46-3134-99CB-4EA485AB8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4725A-9AA1-690C-43AF-D3809387E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C2452-317C-8345-0EF2-60FCDB8E0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9414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A62AC-8C32-3143-01A2-5D9AA3DD2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A907F-7A8C-4D3F-633A-CDA0C9CBD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02560-AB58-1567-EF8E-C1FD7DC03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5F55B-2781-37C5-DD34-406B9F0F28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7840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EE618-D62C-C137-35A5-DBFF6768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9AD5A-A36C-602A-11D3-1FD84C40F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E40DA7-57CE-0F96-8F99-9971D2792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0EC1-74A3-BD0B-2102-5F6F7EFAA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86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84FE-5218-D3F6-BC4F-9EF6BF69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8BA1C-3DC4-E8F9-EFA9-A95667B8E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95664-8DD6-8D34-FDE2-E8F34AE44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F1E46-5A97-81E1-A03B-2046E0CC6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0208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B707A-EAAB-07A5-4167-FB55FA9C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F47DB-7062-4C79-40CB-EBD6E0AB3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4A6BE-9FF2-B909-8CD6-5663C6B50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93D4E-660E-FF39-9A8D-84936FD27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6217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C040C-FFDE-40B8-EDB5-0BCABF19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082E7-9139-F51D-049B-1B7285BFF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051FE6-208D-25F1-039D-6EE5028B7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79A84-0111-4F39-D1F5-906CDF391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4262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6D10D-3A81-7EFE-FAF1-3AAFB9B79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BF0D2-2E97-8F0F-BC33-3138065D6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B462F-81F2-4FB0-E988-1B1530E59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14AA0-E9B4-67DC-7923-3832FD6A3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6651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F624-3289-CCA4-9CD4-656A9F4F4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711A1-0214-B38C-934E-C55F5059A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85AAB0-0318-57F1-EEF9-AB92F22CC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2FA23-DB13-B77F-2484-57A8C6D4E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6125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5E4F0-9ED1-AF30-3516-C7416111E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14355-7197-3926-D67C-0B833ED1D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810E1-5850-2608-AC62-FBB4E131E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E2716-A8BC-092A-3431-55E87CC48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0066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0E3F-31D7-0AB8-3761-54FE50108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B5BDF-A1FD-A078-D582-A80B2C1D9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586E8D-498C-6C9C-01E9-524DDBE05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BCD38-F688-DA48-F610-020049496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5605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D821C-3993-2ABD-701B-F46A28336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B9DE0-4A9B-A9C7-32D7-B9E5F7415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768BE-6107-9432-056D-BF0F3CD70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B0887-EFDD-3B0B-0FB2-E5A1E3941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417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5077"/>
            <a:ext cx="6548438" cy="2831323"/>
          </a:xfrm>
        </p:spPr>
        <p:txBody>
          <a:bodyPr anchor="b">
            <a:no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60D9A71-4723-318F-C9C2-A78E2B694A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9BF2D20-DAE2-42DC-9AB8-77B7B38D73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0"/>
            <a:ext cx="11353800" cy="5791201"/>
          </a:xfrm>
          <a:custGeom>
            <a:avLst/>
            <a:gdLst>
              <a:gd name="connsiteX0" fmla="*/ 1 w 11353800"/>
              <a:gd name="connsiteY0" fmla="*/ 5791200 h 5791201"/>
              <a:gd name="connsiteX1" fmla="*/ 6662737 w 11353800"/>
              <a:gd name="connsiteY1" fmla="*/ 5791200 h 5791201"/>
              <a:gd name="connsiteX2" fmla="*/ 6662737 w 11353800"/>
              <a:gd name="connsiteY2" fmla="*/ 5791201 h 5791201"/>
              <a:gd name="connsiteX3" fmla="*/ 1 w 11353800"/>
              <a:gd name="connsiteY3" fmla="*/ 5791201 h 5791201"/>
              <a:gd name="connsiteX4" fmla="*/ 0 w 11353800"/>
              <a:gd name="connsiteY4" fmla="*/ 0 h 5791201"/>
              <a:gd name="connsiteX5" fmla="*/ 11353800 w 11353800"/>
              <a:gd name="connsiteY5" fmla="*/ 0 h 5791201"/>
              <a:gd name="connsiteX6" fmla="*/ 11353800 w 11353800"/>
              <a:gd name="connsiteY6" fmla="*/ 5791200 h 5791201"/>
              <a:gd name="connsiteX7" fmla="*/ 6662737 w 11353800"/>
              <a:gd name="connsiteY7" fmla="*/ 5791200 h 5791201"/>
              <a:gd name="connsiteX8" fmla="*/ 6662737 w 11353800"/>
              <a:gd name="connsiteY8" fmla="*/ 2531373 h 5791201"/>
              <a:gd name="connsiteX9" fmla="*/ 1 w 11353800"/>
              <a:gd name="connsiteY9" fmla="*/ 2531373 h 5791201"/>
              <a:gd name="connsiteX10" fmla="*/ 1 w 11353800"/>
              <a:gd name="connsiteY10" fmla="*/ 5791200 h 5791201"/>
              <a:gd name="connsiteX11" fmla="*/ 0 w 11353800"/>
              <a:gd name="connsiteY11" fmla="*/ 5791200 h 579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353800" h="5791201">
                <a:moveTo>
                  <a:pt x="1" y="5791200"/>
                </a:moveTo>
                <a:lnTo>
                  <a:pt x="6662737" y="5791200"/>
                </a:lnTo>
                <a:lnTo>
                  <a:pt x="6662737" y="5791201"/>
                </a:lnTo>
                <a:lnTo>
                  <a:pt x="1" y="5791201"/>
                </a:lnTo>
                <a:close/>
                <a:moveTo>
                  <a:pt x="0" y="0"/>
                </a:moveTo>
                <a:lnTo>
                  <a:pt x="11353800" y="0"/>
                </a:lnTo>
                <a:lnTo>
                  <a:pt x="11353800" y="5791200"/>
                </a:lnTo>
                <a:lnTo>
                  <a:pt x="6662737" y="5791200"/>
                </a:lnTo>
                <a:lnTo>
                  <a:pt x="6662737" y="2531373"/>
                </a:lnTo>
                <a:lnTo>
                  <a:pt x="1" y="2531373"/>
                </a:lnTo>
                <a:lnTo>
                  <a:pt x="1" y="5791200"/>
                </a:lnTo>
                <a:lnTo>
                  <a:pt x="0" y="57912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486400"/>
            <a:ext cx="6548438" cy="304801"/>
          </a:xfrm>
        </p:spPr>
        <p:txBody>
          <a:bodyPr>
            <a:normAutofit/>
          </a:bodyPr>
          <a:lstStyle>
            <a:lvl1pPr marL="0" indent="0">
              <a:buNone/>
              <a:defRPr sz="1600" spc="300"/>
            </a:lvl1pPr>
          </a:lstStyle>
          <a:p>
            <a:pPr lvl="0"/>
            <a:r>
              <a:rPr lang="en-US" dirty="0"/>
              <a:t>WEBSITE GOES HERE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997E42D-5E17-7C76-9F7D-0B1EC402C33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139946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A8FB924-7820-A342-A545-0DFCE2908E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0"/>
            <a:ext cx="1136015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451231 h 6858000"/>
              <a:gd name="connsiteX5" fmla="*/ 6277708 w 12192000"/>
              <a:gd name="connsiteY5" fmla="*/ 5451231 h 6858000"/>
              <a:gd name="connsiteX6" fmla="*/ 6277708 w 12192000"/>
              <a:gd name="connsiteY6" fmla="*/ 1481138 h 6858000"/>
              <a:gd name="connsiteX7" fmla="*/ 0 w 12192000"/>
              <a:gd name="connsiteY7" fmla="*/ 148113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451231"/>
                </a:lnTo>
                <a:lnTo>
                  <a:pt x="6277708" y="5451231"/>
                </a:lnTo>
                <a:lnTo>
                  <a:pt x="6277708" y="1481138"/>
                </a:lnTo>
                <a:lnTo>
                  <a:pt x="0" y="148113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6BA20-74C4-B146-8DF6-85C573E19D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8373" y="1488558"/>
            <a:ext cx="5445858" cy="27046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9FC2C-42AA-424F-9223-5F73B95D7C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48373" y="4220187"/>
            <a:ext cx="5445858" cy="1223684"/>
          </a:xfrm>
        </p:spPr>
        <p:txBody>
          <a:bodyPr>
            <a:normAutofit/>
          </a:bodyPr>
          <a:lstStyle>
            <a:lvl1pPr marL="0" indent="0">
              <a:buNone/>
              <a:defRPr sz="1800" b="0" i="0" spc="300">
                <a:solidFill>
                  <a:schemeClr val="tx1"/>
                </a:solidFill>
                <a:latin typeface="+mn-lt"/>
                <a:cs typeface="Gill Sans Light" panose="020B0302020104020203" pitchFamily="34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F4DAD80-935E-1259-8337-9302BCD9A32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3A7E5-67D2-51AE-C09E-4EB06E74959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1132737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0C00A69-6129-E54C-B138-69D96462CE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6682850 w 12192000"/>
              <a:gd name="connsiteY3" fmla="*/ 6858000 h 6858000"/>
              <a:gd name="connsiteX4" fmla="*/ 6682850 w 12192000"/>
              <a:gd name="connsiteY4" fmla="*/ 3259237 h 6858000"/>
              <a:gd name="connsiteX5" fmla="*/ 838200 w 12192000"/>
              <a:gd name="connsiteY5" fmla="*/ 3259237 h 6858000"/>
              <a:gd name="connsiteX6" fmla="*/ 8382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6682850" y="6858000"/>
                </a:lnTo>
                <a:lnTo>
                  <a:pt x="6682850" y="3259237"/>
                </a:lnTo>
                <a:lnTo>
                  <a:pt x="838200" y="3259237"/>
                </a:lnTo>
                <a:lnTo>
                  <a:pt x="838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985175C-7C48-9449-9A0A-088E9BCAE9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8373" y="3259237"/>
            <a:ext cx="5445858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4F669B5-8A24-5846-82A0-51E5506817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48373" y="6138962"/>
            <a:ext cx="5445858" cy="580815"/>
          </a:xfrm>
        </p:spPr>
        <p:txBody>
          <a:bodyPr>
            <a:normAutofit/>
          </a:bodyPr>
          <a:lstStyle>
            <a:lvl1pPr marL="0" indent="0">
              <a:buNone/>
              <a:defRPr sz="1800" b="0" i="0" spc="300">
                <a:solidFill>
                  <a:schemeClr val="tx2"/>
                </a:solidFill>
                <a:latin typeface="+mn-lt"/>
                <a:cs typeface="Gill Sans Light" panose="020B0302020104020203" pitchFamily="34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4178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38200" y="0"/>
            <a:ext cx="525780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CDB5228-26E3-B388-99AB-D6E28F6ED6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DB750-8624-CF47-B512-2548F394EBC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1437461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295395-4EC9-4A2A-A4BF-5B0E3F1E907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0"/>
            <a:ext cx="11353800" cy="6858000"/>
          </a:xfrm>
          <a:custGeom>
            <a:avLst/>
            <a:gdLst>
              <a:gd name="connsiteX0" fmla="*/ 0 w 11353800"/>
              <a:gd name="connsiteY0" fmla="*/ 0 h 6858000"/>
              <a:gd name="connsiteX1" fmla="*/ 11353800 w 11353800"/>
              <a:gd name="connsiteY1" fmla="*/ 0 h 6858000"/>
              <a:gd name="connsiteX2" fmla="*/ 11353800 w 11353800"/>
              <a:gd name="connsiteY2" fmla="*/ 4947138 h 6858000"/>
              <a:gd name="connsiteX3" fmla="*/ 7133492 w 11353800"/>
              <a:gd name="connsiteY3" fmla="*/ 4947138 h 6858000"/>
              <a:gd name="connsiteX4" fmla="*/ 7133492 w 11353800"/>
              <a:gd name="connsiteY4" fmla="*/ 6858000 h 6858000"/>
              <a:gd name="connsiteX5" fmla="*/ 0 w 1135380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53800" h="6858000">
                <a:moveTo>
                  <a:pt x="0" y="0"/>
                </a:moveTo>
                <a:lnTo>
                  <a:pt x="11353800" y="0"/>
                </a:lnTo>
                <a:lnTo>
                  <a:pt x="11353800" y="4947138"/>
                </a:lnTo>
                <a:lnTo>
                  <a:pt x="7133492" y="4947138"/>
                </a:lnTo>
                <a:lnTo>
                  <a:pt x="7133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DA884-7C48-8D49-9DFE-4CE990C95A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81989" y="5829950"/>
            <a:ext cx="3558320" cy="62865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Caption Goes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FCCE50-D1A9-1249-AF64-BA06424C8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6179" y="5250600"/>
            <a:ext cx="3545503" cy="564335"/>
          </a:xfrm>
        </p:spPr>
        <p:txBody>
          <a:bodyPr>
            <a:normAutofit/>
          </a:bodyPr>
          <a:lstStyle>
            <a:lvl1pPr algn="ctr">
              <a:defRPr sz="280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56811-6AF7-0E20-D7FA-553D839C0B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314A5E-0111-C20E-9AD9-4CAB4D23DB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1565262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71C3BC6-F801-857C-8E0C-7DDA360BC9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0" y="2627"/>
            <a:ext cx="11353799" cy="4631365"/>
          </a:xfrm>
          <a:custGeom>
            <a:avLst/>
            <a:gdLst>
              <a:gd name="connsiteX0" fmla="*/ 0 w 11353799"/>
              <a:gd name="connsiteY0" fmla="*/ 0 h 4631365"/>
              <a:gd name="connsiteX1" fmla="*/ 11353799 w 11353799"/>
              <a:gd name="connsiteY1" fmla="*/ 0 h 4631365"/>
              <a:gd name="connsiteX2" fmla="*/ 11353799 w 11353799"/>
              <a:gd name="connsiteY2" fmla="*/ 4631365 h 4631365"/>
              <a:gd name="connsiteX3" fmla="*/ 10892905 w 11353799"/>
              <a:gd name="connsiteY3" fmla="*/ 4631365 h 4631365"/>
              <a:gd name="connsiteX4" fmla="*/ 10892905 w 11353799"/>
              <a:gd name="connsiteY4" fmla="*/ 1965657 h 4631365"/>
              <a:gd name="connsiteX5" fmla="*/ 5773993 w 11353799"/>
              <a:gd name="connsiteY5" fmla="*/ 1965657 h 4631365"/>
              <a:gd name="connsiteX6" fmla="*/ 5773993 w 11353799"/>
              <a:gd name="connsiteY6" fmla="*/ 4631365 h 4631365"/>
              <a:gd name="connsiteX7" fmla="*/ 5118912 w 11353799"/>
              <a:gd name="connsiteY7" fmla="*/ 4631365 h 4631365"/>
              <a:gd name="connsiteX8" fmla="*/ 5118912 w 11353799"/>
              <a:gd name="connsiteY8" fmla="*/ 1965657 h 4631365"/>
              <a:gd name="connsiteX9" fmla="*/ 0 w 11353799"/>
              <a:gd name="connsiteY9" fmla="*/ 1965657 h 4631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53799" h="4631365">
                <a:moveTo>
                  <a:pt x="0" y="0"/>
                </a:moveTo>
                <a:lnTo>
                  <a:pt x="11353799" y="0"/>
                </a:lnTo>
                <a:lnTo>
                  <a:pt x="11353799" y="4631365"/>
                </a:lnTo>
                <a:lnTo>
                  <a:pt x="10892905" y="4631365"/>
                </a:lnTo>
                <a:lnTo>
                  <a:pt x="10892905" y="1965657"/>
                </a:lnTo>
                <a:lnTo>
                  <a:pt x="5773993" y="1965657"/>
                </a:lnTo>
                <a:lnTo>
                  <a:pt x="5773993" y="4631365"/>
                </a:lnTo>
                <a:lnTo>
                  <a:pt x="5118912" y="4631365"/>
                </a:lnTo>
                <a:lnTo>
                  <a:pt x="5118912" y="1965657"/>
                </a:lnTo>
                <a:lnTo>
                  <a:pt x="0" y="19656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94B1A93-5100-5048-8230-09B3D176D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2100" y="2679700"/>
            <a:ext cx="4242611" cy="645001"/>
          </a:xfrm>
        </p:spPr>
        <p:txBody>
          <a:bodyPr anchor="ctr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+mj-lt"/>
                <a:cs typeface="Gill Sans" panose="020B0502020104020203" pitchFamily="34" charset="-79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A037B8A-C781-9F40-A9F6-BCCD198DD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62100" y="3324700"/>
            <a:ext cx="4242611" cy="330469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6926CBF-E2B0-C44C-AD98-B15D17ADD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67601" y="2679700"/>
            <a:ext cx="4072192" cy="645001"/>
          </a:xfrm>
        </p:spPr>
        <p:txBody>
          <a:bodyPr anchor="ctr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+mj-lt"/>
                <a:cs typeface="Gill Sans" panose="020B0502020104020203" pitchFamily="34" charset="-79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18A1595-1A86-304F-A361-B3E4B0683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67601" y="3324700"/>
            <a:ext cx="4072192" cy="330469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DEFE0B-9B5C-734D-8394-A770FAA615B3}"/>
              </a:ext>
            </a:extLst>
          </p:cNvPr>
          <p:cNvSpPr/>
          <p:nvPr userDrawn="1"/>
        </p:nvSpPr>
        <p:spPr>
          <a:xfrm>
            <a:off x="838200" y="2679700"/>
            <a:ext cx="546100" cy="5461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2390A6-F565-8844-A9B9-4C6ACB7857F5}"/>
              </a:ext>
            </a:extLst>
          </p:cNvPr>
          <p:cNvSpPr/>
          <p:nvPr userDrawn="1"/>
        </p:nvSpPr>
        <p:spPr>
          <a:xfrm>
            <a:off x="6742889" y="2679700"/>
            <a:ext cx="546100" cy="5461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674C34-BF58-4A21-BEE1-52BA2A5DB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B9DBB42-C0AF-BA88-3E44-5D81D04685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0BB105E-34AD-3B20-BA4B-F2896C2BFBA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124176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3ADF8-C269-5D42-A626-BE35303B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7CE01-A53E-894C-9672-25D8CB7D5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1B6C343-7B00-3AEC-3ED2-3100843466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01290A-034A-F4BD-B23D-0BCD0540BB4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61417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BF98B-2743-4B47-AE32-9926CC2BF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24E8-8F6B-3D44-A59E-3179A03A7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908B9-8BB9-5247-A9CC-EADBF62AB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7E1808-3255-6342-8F11-708C178C6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572680-8F07-DD43-A1EC-F836900FF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FF4A16E-398B-0ACC-EC1B-8E5E2D8729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FCDBD04-BDA1-3ED9-D460-DCB6842CE34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325776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BF98B-2743-4B47-AE32-9926CC2BF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908B9-8BB9-5247-A9CC-EADBF62AB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85361"/>
            <a:ext cx="5157787" cy="430430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572680-8F07-DD43-A1EC-F836900FF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85361"/>
            <a:ext cx="5183188" cy="430430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4CF5214-BAF8-8514-D9E3-DDD504A31B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000703-5040-3702-1528-F2226277CC9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413889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5077"/>
            <a:ext cx="6548438" cy="2831323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B11A616-4D84-4BF3-86C7-9F1BBDAD3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486400"/>
            <a:ext cx="6548438" cy="69758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447B9-A1CD-B8D8-4FD3-A505B9ACD3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D79251-F5C6-C2BD-F8FF-834672C7112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3442725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BA20-74C4-B146-8DF6-85C573E19D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8373" y="1488558"/>
            <a:ext cx="5445858" cy="27046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9FC2C-42AA-424F-9223-5F73B95D7C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48373" y="4220187"/>
            <a:ext cx="5445858" cy="1223684"/>
          </a:xfrm>
        </p:spPr>
        <p:txBody>
          <a:bodyPr>
            <a:normAutofit/>
          </a:bodyPr>
          <a:lstStyle>
            <a:lvl1pPr marL="0" indent="0">
              <a:buNone/>
              <a:defRPr sz="1800" b="0" i="0" spc="300">
                <a:solidFill>
                  <a:schemeClr val="tx1"/>
                </a:solidFill>
                <a:latin typeface="+mn-lt"/>
                <a:cs typeface="Gill Sans Light" panose="020B0302020104020203" pitchFamily="34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2FE91B6-3FF0-7E5D-54DA-F1738C53B0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C4073-3846-B3C7-13EA-D585D0241C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3034744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B2B6249-6B58-2F44-83C2-208195C2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57"/>
            <a:ext cx="10515600" cy="986943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08C8E-8848-0563-A020-43F3295C00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989D8-A347-81C7-32D9-E12299F6335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865092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B2B6249-6B58-2F44-83C2-208195C2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57"/>
            <a:ext cx="10515600" cy="986943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E0DD3-854B-420F-ADA1-DED8ADDCC3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54163" y="2062956"/>
            <a:ext cx="9083675" cy="27320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B803F5-45DF-1128-6100-2F10EB13F4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08DF6-5037-363A-D495-7D49D3EE20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1181346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5E4FE9-CEDE-F34D-924F-EB11B49749A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63424" y="2367777"/>
            <a:ext cx="5056426" cy="37914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90780" y="839972"/>
            <a:ext cx="4767262" cy="1342045"/>
          </a:xfrm>
        </p:spPr>
        <p:txBody>
          <a:bodyPr lIns="0" anchor="b"/>
          <a:lstStyle/>
          <a:p>
            <a:r>
              <a:rPr lang="en-US" dirty="0"/>
              <a:t>TITLE GOES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90780" y="3019352"/>
            <a:ext cx="4767262" cy="3099153"/>
          </a:xfrm>
        </p:spPr>
        <p:txBody>
          <a:bodyPr lIns="0">
            <a:normAutofit/>
          </a:bodyPr>
          <a:lstStyle>
            <a:lvl1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1pPr>
            <a:lvl2pPr>
              <a:lnSpc>
                <a:spcPct val="150000"/>
              </a:lnSpc>
              <a:defRPr sz="1100" spc="0">
                <a:solidFill>
                  <a:schemeClr val="tx2"/>
                </a:solidFill>
              </a:defRPr>
            </a:lvl2pPr>
            <a:lvl3pPr>
              <a:lnSpc>
                <a:spcPct val="150000"/>
              </a:lnSpc>
              <a:defRPr sz="1050" spc="0">
                <a:solidFill>
                  <a:schemeClr val="tx2"/>
                </a:solidFill>
              </a:defRPr>
            </a:lvl3pPr>
            <a:lvl4pPr>
              <a:lnSpc>
                <a:spcPct val="150000"/>
              </a:lnSpc>
              <a:defRPr sz="1000" spc="0">
                <a:solidFill>
                  <a:schemeClr val="tx2"/>
                </a:solidFill>
              </a:defRPr>
            </a:lvl4pPr>
            <a:lvl5pPr>
              <a:lnSpc>
                <a:spcPct val="150000"/>
              </a:lnSpc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C005EA5-AC3E-B248-B6E7-9CA2F3092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90780" y="2247679"/>
            <a:ext cx="4767262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9EF11-83C6-1E6E-D9A6-DD964B3D06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07588-E70B-5ECF-D859-7B2652D703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1820781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4535-13A9-914D-A6BC-97AFF2883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896600" cy="1226916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75C1F3A-BBBB-2946-BF9D-CD1C4898C8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690688"/>
            <a:ext cx="10896600" cy="4862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43A40995-514F-A74C-B120-F2ADB49206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5657"/>
            <a:ext cx="10896600" cy="32044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DA51DAE-70D5-670E-0512-6D3D872790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15E8D-1FEC-DF9F-AFBC-45AC80A9DA4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850829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B2B6249-6B58-2F44-83C2-208195C2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868896"/>
          </a:xfrm>
        </p:spPr>
        <p:txBody>
          <a:bodyPr anchor="b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B3D6EB-0B4B-4C00-A78E-E618E038C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6353079-34E7-4CF0-8300-BCC1060B3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856322"/>
            <a:ext cx="3932237" cy="301266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672F7-6F1E-B5F8-D111-799B2C4A5A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FB2EE8-F086-AC09-D4FF-5B41B4EAF10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3386122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B2B6249-6B58-2F44-83C2-208195C2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868896"/>
          </a:xfrm>
        </p:spPr>
        <p:txBody>
          <a:bodyPr anchor="b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6353079-34E7-4CF0-8300-BCC1060B3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856322"/>
            <a:ext cx="3932237" cy="301266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04B7B3E-1EE1-4212-9F4F-0C7DC6C1584F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5180012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F25DC-2220-A7C3-D7CF-C9BF7DC3E0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DD550B-8177-0A10-F8B5-965766F9098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32590135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1825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CA2F9-D292-2A36-2C2B-01C0A5C159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3771C-0245-E2F2-6D9B-A80890CD07E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12869723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3EE4273-5B11-44D2-BB30-AB361AEA56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0"/>
            <a:ext cx="11353800" cy="5791201"/>
          </a:xfrm>
          <a:custGeom>
            <a:avLst/>
            <a:gdLst>
              <a:gd name="connsiteX0" fmla="*/ 1 w 11353800"/>
              <a:gd name="connsiteY0" fmla="*/ 5791200 h 5791201"/>
              <a:gd name="connsiteX1" fmla="*/ 6662737 w 11353800"/>
              <a:gd name="connsiteY1" fmla="*/ 5791200 h 5791201"/>
              <a:gd name="connsiteX2" fmla="*/ 6662737 w 11353800"/>
              <a:gd name="connsiteY2" fmla="*/ 5791201 h 5791201"/>
              <a:gd name="connsiteX3" fmla="*/ 1 w 11353800"/>
              <a:gd name="connsiteY3" fmla="*/ 5791201 h 5791201"/>
              <a:gd name="connsiteX4" fmla="*/ 0 w 11353800"/>
              <a:gd name="connsiteY4" fmla="*/ 0 h 5791201"/>
              <a:gd name="connsiteX5" fmla="*/ 8012252 w 11353800"/>
              <a:gd name="connsiteY5" fmla="*/ 0 h 5791201"/>
              <a:gd name="connsiteX6" fmla="*/ 8012252 w 11353800"/>
              <a:gd name="connsiteY6" fmla="*/ 1892595 h 5791201"/>
              <a:gd name="connsiteX7" fmla="*/ 11353800 w 11353800"/>
              <a:gd name="connsiteY7" fmla="*/ 1892595 h 5791201"/>
              <a:gd name="connsiteX8" fmla="*/ 11353800 w 11353800"/>
              <a:gd name="connsiteY8" fmla="*/ 5791200 h 5791201"/>
              <a:gd name="connsiteX9" fmla="*/ 6662737 w 11353800"/>
              <a:gd name="connsiteY9" fmla="*/ 5791200 h 5791201"/>
              <a:gd name="connsiteX10" fmla="*/ 6662737 w 11353800"/>
              <a:gd name="connsiteY10" fmla="*/ 2531373 h 5791201"/>
              <a:gd name="connsiteX11" fmla="*/ 1 w 11353800"/>
              <a:gd name="connsiteY11" fmla="*/ 2531373 h 5791201"/>
              <a:gd name="connsiteX12" fmla="*/ 1 w 11353800"/>
              <a:gd name="connsiteY12" fmla="*/ 5791200 h 5791201"/>
              <a:gd name="connsiteX13" fmla="*/ 0 w 11353800"/>
              <a:gd name="connsiteY13" fmla="*/ 5791200 h 579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353800" h="5791201">
                <a:moveTo>
                  <a:pt x="1" y="5791200"/>
                </a:moveTo>
                <a:lnTo>
                  <a:pt x="6662737" y="5791200"/>
                </a:lnTo>
                <a:lnTo>
                  <a:pt x="6662737" y="5791201"/>
                </a:lnTo>
                <a:lnTo>
                  <a:pt x="1" y="5791201"/>
                </a:lnTo>
                <a:close/>
                <a:moveTo>
                  <a:pt x="0" y="0"/>
                </a:moveTo>
                <a:lnTo>
                  <a:pt x="8012252" y="0"/>
                </a:lnTo>
                <a:lnTo>
                  <a:pt x="8012252" y="1892595"/>
                </a:lnTo>
                <a:lnTo>
                  <a:pt x="11353800" y="1892595"/>
                </a:lnTo>
                <a:lnTo>
                  <a:pt x="11353800" y="5791200"/>
                </a:lnTo>
                <a:lnTo>
                  <a:pt x="6662737" y="5791200"/>
                </a:lnTo>
                <a:lnTo>
                  <a:pt x="6662737" y="2531373"/>
                </a:lnTo>
                <a:lnTo>
                  <a:pt x="1" y="2531373"/>
                </a:lnTo>
                <a:lnTo>
                  <a:pt x="1" y="5791200"/>
                </a:lnTo>
                <a:lnTo>
                  <a:pt x="0" y="57912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3072985"/>
            <a:ext cx="6548438" cy="241341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5486401"/>
            <a:ext cx="6548439" cy="304800"/>
          </a:xfrm>
        </p:spPr>
        <p:txBody>
          <a:bodyPr>
            <a:normAutofit/>
          </a:bodyPr>
          <a:lstStyle>
            <a:lvl1pPr marL="0" indent="0">
              <a:buNone/>
              <a:defRPr sz="1600" spc="300"/>
            </a:lvl1pPr>
          </a:lstStyle>
          <a:p>
            <a:pPr lvl="0"/>
            <a:r>
              <a:rPr lang="en-US" dirty="0"/>
              <a:t>WEBSITE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224C5-CBBF-C6D4-C9CD-4858D41B98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58" y="5998559"/>
            <a:ext cx="539496" cy="71323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0C47D-B0AE-9E59-A1D3-21F8530029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Margie's Travel</a:t>
            </a:r>
          </a:p>
        </p:txBody>
      </p:sp>
    </p:spTree>
    <p:extLst>
      <p:ext uri="{BB962C8B-B14F-4D97-AF65-F5344CB8AC3E}">
        <p14:creationId xmlns:p14="http://schemas.microsoft.com/office/powerpoint/2010/main" val="1506622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0FA98-2EE8-734A-95BB-A4637DCAD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5A45B-F495-F641-AA7A-36292C3CC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27B26-65C5-5A4B-AAEC-70B3B5201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678794" y="4213707"/>
            <a:ext cx="2194560" cy="2834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Margie's Travel</a:t>
            </a:r>
          </a:p>
        </p:txBody>
      </p:sp>
      <p:sp>
        <p:nvSpPr>
          <p:cNvPr id="16" name="Shape 62">
            <a:extLst>
              <a:ext uri="{FF2B5EF4-FFF2-40B4-BE49-F238E27FC236}">
                <a16:creationId xmlns:a16="http://schemas.microsoft.com/office/drawing/2014/main" id="{2C8F251E-BB08-9D42-8813-D3CD1AE6AF9A}"/>
              </a:ext>
            </a:extLst>
          </p:cNvPr>
          <p:cNvSpPr/>
          <p:nvPr userDrawn="1"/>
        </p:nvSpPr>
        <p:spPr>
          <a:xfrm flipV="1">
            <a:off x="419100" y="798384"/>
            <a:ext cx="1" cy="2188805"/>
          </a:xfrm>
          <a:prstGeom prst="line">
            <a:avLst/>
          </a:prstGeom>
          <a:ln w="3810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17" name="Shape 42">
            <a:extLst>
              <a:ext uri="{FF2B5EF4-FFF2-40B4-BE49-F238E27FC236}">
                <a16:creationId xmlns:a16="http://schemas.microsoft.com/office/drawing/2014/main" id="{3890D1E5-941D-C642-A000-669C7923941B}"/>
              </a:ext>
            </a:extLst>
          </p:cNvPr>
          <p:cNvSpPr txBox="1">
            <a:spLocks/>
          </p:cNvSpPr>
          <p:nvPr userDrawn="1"/>
        </p:nvSpPr>
        <p:spPr>
          <a:xfrm>
            <a:off x="158397" y="77222"/>
            <a:ext cx="521406" cy="2476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C1C0B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6CB4B4D-7CA3-9044-876B-883B54F8677D}" type="slidenum">
              <a:rPr lang="en-US" sz="1050" smtClean="0">
                <a:solidFill>
                  <a:schemeClr val="tx2"/>
                </a:solidFill>
              </a:rPr>
              <a:pPr algn="ctr"/>
              <a:t>‹#›</a:t>
            </a:fld>
            <a:endParaRPr lang="en-US" sz="105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737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51" r:id="rId2"/>
    <p:sldLayoutId id="2147483674" r:id="rId3"/>
    <p:sldLayoutId id="2147483670" r:id="rId4"/>
    <p:sldLayoutId id="2147483669" r:id="rId5"/>
    <p:sldLayoutId id="2147483664" r:id="rId6"/>
    <p:sldLayoutId id="2147483650" r:id="rId7"/>
    <p:sldLayoutId id="2147483653" r:id="rId8"/>
    <p:sldLayoutId id="2147483680" r:id="rId9"/>
    <p:sldLayoutId id="2147483678" r:id="rId10"/>
    <p:sldLayoutId id="2147483679" r:id="rId11"/>
    <p:sldLayoutId id="2147483672" r:id="rId12"/>
    <p:sldLayoutId id="2147483683" r:id="rId13"/>
    <p:sldLayoutId id="2147483663" r:id="rId14"/>
    <p:sldLayoutId id="2147483675" r:id="rId15"/>
    <p:sldLayoutId id="2147483681" r:id="rId16"/>
    <p:sldLayoutId id="2147483682" r:id="rId17"/>
    <p:sldLayoutId id="2147483671" r:id="rId18"/>
    <p:sldLayoutId id="2147483677" r:id="rId19"/>
    <p:sldLayoutId id="2147483676" r:id="rId2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cap="all" spc="-150" baseline="0">
          <a:solidFill>
            <a:schemeClr val="tx2"/>
          </a:solidFill>
          <a:latin typeface="+mj-lt"/>
          <a:ea typeface="+mj-ea"/>
          <a:cs typeface="Gill Sans" panose="020B0502020104020203" pitchFamily="34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Gill Sans Light" panose="020B0302020104020203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+mn-lt"/>
          <a:ea typeface="+mn-ea"/>
          <a:cs typeface="Gill Sans Light" panose="020B0302020104020203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+mn-lt"/>
          <a:ea typeface="+mn-ea"/>
          <a:cs typeface="Gill Sans Light" panose="020B0302020104020203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Gill Sans Light" panose="020B0302020104020203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Gill Sans Light" panose="020B0302020104020203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orient="horz" pos="4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6F62C9-A1BC-DD47-B0A8-8EF9838D6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8000" spc="-300" dirty="0">
                <a:solidFill>
                  <a:schemeClr val="tx2"/>
                </a:solidFill>
              </a:rPr>
            </a:b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D5253D3-376F-F247-863E-0A946AC77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6857" y="4500496"/>
            <a:ext cx="5361285" cy="1984491"/>
          </a:xfrm>
        </p:spPr>
        <p:txBody>
          <a:bodyPr>
            <a:noAutofit/>
          </a:bodyPr>
          <a:lstStyle/>
          <a:p>
            <a:r>
              <a:rPr lang="en-GB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Guide for FurniturePro Sales &amp; Customer Insights Analysis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71CE71A-30DF-E1C7-A93D-6C656700EE3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1875" b="21875"/>
          <a:stretch>
            <a:fillRect/>
          </a:stretch>
        </p:blipFill>
        <p:spPr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6682850 w 12192000"/>
              <a:gd name="connsiteY3" fmla="*/ 6858000 h 6858000"/>
              <a:gd name="connsiteX4" fmla="*/ 6682850 w 12192000"/>
              <a:gd name="connsiteY4" fmla="*/ 3259237 h 6858000"/>
              <a:gd name="connsiteX5" fmla="*/ 838200 w 12192000"/>
              <a:gd name="connsiteY5" fmla="*/ 3259237 h 6858000"/>
              <a:gd name="connsiteX6" fmla="*/ 8382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6682850" y="6858000"/>
                </a:lnTo>
                <a:lnTo>
                  <a:pt x="6682850" y="3259237"/>
                </a:lnTo>
                <a:lnTo>
                  <a:pt x="838200" y="3259237"/>
                </a:lnTo>
                <a:lnTo>
                  <a:pt x="838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</p:spPr>
      </p:pic>
      <p:pic>
        <p:nvPicPr>
          <p:cNvPr id="1026" name="Picture 2" descr="BCG Logo and symbol, meaning, history, PNG, brand">
            <a:extLst>
              <a:ext uri="{FF2B5EF4-FFF2-40B4-BE49-F238E27FC236}">
                <a16:creationId xmlns:a16="http://schemas.microsoft.com/office/drawing/2014/main" id="{D126E2AA-A88F-FE7C-A83B-E2E19FFE5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858" y="3190811"/>
            <a:ext cx="2759599" cy="155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604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77C3B4C2-AC91-720C-D8EB-886A083D270A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400" b="1" i="0" kern="1200" cap="all" spc="-150" baseline="0" dirty="0">
                <a:latin typeface="+mj-lt"/>
                <a:ea typeface="+mj-ea"/>
                <a:cs typeface="Gill Sans" panose="020B0502020104020203" pitchFamily="34" charset="-79"/>
              </a:rPr>
              <a:t>Dashboard Pages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F1DAF8-4D22-8979-596A-2997D9ED2178}"/>
              </a:ext>
            </a:extLst>
          </p:cNvPr>
          <p:cNvSpPr txBox="1"/>
          <p:nvPr/>
        </p:nvSpPr>
        <p:spPr>
          <a:xfrm>
            <a:off x="839788" y="1885361"/>
            <a:ext cx="5157787" cy="4304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Summary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Segment, Category &amp; Region Analysis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Analysis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&amp; Benchmark Analysis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– if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Pareto Analysis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Analysis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Overview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Segmentation (RFM)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Acquisition &amp; Sales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3" name="Picture 2" descr="BCG Logo and symbol, meaning, history, PNG, brand">
            <a:extLst>
              <a:ext uri="{FF2B5EF4-FFF2-40B4-BE49-F238E27FC236}">
                <a16:creationId xmlns:a16="http://schemas.microsoft.com/office/drawing/2014/main" id="{08C03535-00EF-ED9B-9671-59A49022A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579741"/>
            <a:ext cx="5183188" cy="291554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314819E4-16ED-AB2F-A4A5-D0E711BDF0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15125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75229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E721A-D85C-4501-EF7F-1C14F80F4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B60661-3636-DAAD-998A-6781EC4F7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08" y="862487"/>
            <a:ext cx="7614041" cy="500789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C58BEAE-CA5D-4120-92BB-CCDF3661B61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A06E45D-5804-377D-81C5-46D6EB647F8A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5612546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Landing Page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079D23FB-D562-27A0-F7AF-0D468BD82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82C0E3-6140-580A-21E5-85E0042D2FEF}"/>
              </a:ext>
            </a:extLst>
          </p:cNvPr>
          <p:cNvCxnSpPr>
            <a:cxnSpLocks/>
          </p:cNvCxnSpPr>
          <p:nvPr/>
        </p:nvCxnSpPr>
        <p:spPr>
          <a:xfrm>
            <a:off x="2951670" y="4526128"/>
            <a:ext cx="6096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52BCA86-C4AF-A2A3-7B19-9790A69A1E6D}"/>
              </a:ext>
            </a:extLst>
          </p:cNvPr>
          <p:cNvCxnSpPr>
            <a:cxnSpLocks/>
          </p:cNvCxnSpPr>
          <p:nvPr/>
        </p:nvCxnSpPr>
        <p:spPr>
          <a:xfrm>
            <a:off x="6314229" y="5403887"/>
            <a:ext cx="240522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5BA70AC-AE80-03CA-FDA5-614D13F12F22}"/>
              </a:ext>
            </a:extLst>
          </p:cNvPr>
          <p:cNvSpPr txBox="1"/>
          <p:nvPr/>
        </p:nvSpPr>
        <p:spPr>
          <a:xfrm>
            <a:off x="3701749" y="4387628"/>
            <a:ext cx="23729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Sales Performance Analysis</a:t>
            </a:r>
            <a:endParaRPr lang="en-GB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216763-12DC-FD61-7BEF-C7C4DA6EC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6955" y="4492317"/>
            <a:ext cx="3270120" cy="182314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5297FC5-227E-F09F-E541-308B1F3DBCF4}"/>
              </a:ext>
            </a:extLst>
          </p:cNvPr>
          <p:cNvCxnSpPr>
            <a:cxnSpLocks/>
          </p:cNvCxnSpPr>
          <p:nvPr/>
        </p:nvCxnSpPr>
        <p:spPr>
          <a:xfrm>
            <a:off x="2951670" y="3867660"/>
            <a:ext cx="6096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99D9837-F961-FCD3-CF7F-2CE1F3507C8C}"/>
              </a:ext>
            </a:extLst>
          </p:cNvPr>
          <p:cNvCxnSpPr>
            <a:cxnSpLocks/>
          </p:cNvCxnSpPr>
          <p:nvPr/>
        </p:nvCxnSpPr>
        <p:spPr>
          <a:xfrm>
            <a:off x="2866825" y="5119517"/>
            <a:ext cx="6096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9E60665-18DD-87DD-171A-F95941115F22}"/>
              </a:ext>
            </a:extLst>
          </p:cNvPr>
          <p:cNvSpPr txBox="1"/>
          <p:nvPr/>
        </p:nvSpPr>
        <p:spPr>
          <a:xfrm>
            <a:off x="3561270" y="3729160"/>
            <a:ext cx="23729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Executive Summary</a:t>
            </a:r>
            <a:endParaRPr lang="en-GB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584A86-1EE6-9E9A-CF13-5FC57A5D1088}"/>
              </a:ext>
            </a:extLst>
          </p:cNvPr>
          <p:cNvSpPr txBox="1"/>
          <p:nvPr/>
        </p:nvSpPr>
        <p:spPr>
          <a:xfrm>
            <a:off x="3505779" y="4943244"/>
            <a:ext cx="23729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Customer Analysis</a:t>
            </a:r>
            <a:endParaRPr lang="en-GB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AAC39E-CCE3-AB03-50E7-25703683BC09}"/>
              </a:ext>
            </a:extLst>
          </p:cNvPr>
          <p:cNvSpPr txBox="1"/>
          <p:nvPr/>
        </p:nvSpPr>
        <p:spPr>
          <a:xfrm>
            <a:off x="8786955" y="4087660"/>
            <a:ext cx="28607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for 2021- year end meeting</a:t>
            </a: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764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60188-1A92-0835-0BF2-671FB222C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54C196-0969-1FB3-97E6-8F387B882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96" y="952438"/>
            <a:ext cx="11709274" cy="118390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6FF34B-D695-AF7B-491D-EC54EB579DA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112B9C0-3481-D3FC-2A0C-E956A04722EA}"/>
              </a:ext>
            </a:extLst>
          </p:cNvPr>
          <p:cNvSpPr txBox="1">
            <a:spLocks/>
          </p:cNvSpPr>
          <p:nvPr/>
        </p:nvSpPr>
        <p:spPr>
          <a:xfrm>
            <a:off x="320167" y="203842"/>
            <a:ext cx="4132089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 Options (1/2)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635584-526D-38F5-440A-CB3146E389DF}"/>
              </a:ext>
            </a:extLst>
          </p:cNvPr>
          <p:cNvSpPr/>
          <p:nvPr/>
        </p:nvSpPr>
        <p:spPr>
          <a:xfrm>
            <a:off x="478450" y="993981"/>
            <a:ext cx="8026007" cy="587141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EB4AF5-0400-39CA-7AB2-7EC67DB1E428}"/>
              </a:ext>
            </a:extLst>
          </p:cNvPr>
          <p:cNvSpPr/>
          <p:nvPr/>
        </p:nvSpPr>
        <p:spPr>
          <a:xfrm>
            <a:off x="8758991" y="962583"/>
            <a:ext cx="3112841" cy="587141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8141CF-8337-9C2B-F1C2-FB2ED9CD6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36" y="2634350"/>
            <a:ext cx="3238856" cy="23576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45068FC-685B-F090-FFFC-60320F7EB86B}"/>
              </a:ext>
            </a:extLst>
          </p:cNvPr>
          <p:cNvSpPr txBox="1"/>
          <p:nvPr/>
        </p:nvSpPr>
        <p:spPr>
          <a:xfrm>
            <a:off x="809991" y="5179135"/>
            <a:ext cx="42763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Selections based </a:t>
            </a: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Product Name</a:t>
            </a:r>
            <a:r>
              <a:rPr lang="en-IN" dirty="0">
                <a:solidFill>
                  <a:srgbClr val="000000"/>
                </a:solidFill>
                <a:latin typeface="Aptos" panose="020B0004020202020204" pitchFamily="34" charset="0"/>
              </a:rPr>
              <a:t>, Customer ID, Order ID, Sales person</a:t>
            </a:r>
            <a:endParaRPr lang="en-US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66D81D-097B-24BE-0046-73674FB0071E}"/>
              </a:ext>
            </a:extLst>
          </p:cNvPr>
          <p:cNvSpPr txBox="1"/>
          <p:nvPr/>
        </p:nvSpPr>
        <p:spPr>
          <a:xfrm>
            <a:off x="6790828" y="5187556"/>
            <a:ext cx="427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Selections </a:t>
            </a: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Category and Sub-category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814269D-F2B6-E198-5C17-0D0884FA6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363" y="2619524"/>
            <a:ext cx="2470088" cy="23872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B6DBA53-88EF-CF06-A202-3F6132375A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6158" y="2588645"/>
            <a:ext cx="1858506" cy="2511195"/>
          </a:xfrm>
          <a:prstGeom prst="rect">
            <a:avLst/>
          </a:prstGeom>
        </p:spPr>
      </p:pic>
      <p:pic>
        <p:nvPicPr>
          <p:cNvPr id="3" name="Picture 2" descr="BCG Logo and symbol, meaning, history, PNG, brand">
            <a:extLst>
              <a:ext uri="{FF2B5EF4-FFF2-40B4-BE49-F238E27FC236}">
                <a16:creationId xmlns:a16="http://schemas.microsoft.com/office/drawing/2014/main" id="{373F5216-6313-ED2A-8A42-E5C2E55A1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091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69DC-994A-259D-A774-75FF49EEE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706FE8-417A-3118-41DA-AF0540332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26" y="794938"/>
            <a:ext cx="11709274" cy="118390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72AF76-BF52-5BBD-07B2-95E07CA3CA9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8B8851B5-1301-5753-EA4A-49CCA0930089}"/>
              </a:ext>
            </a:extLst>
          </p:cNvPr>
          <p:cNvSpPr txBox="1">
            <a:spLocks/>
          </p:cNvSpPr>
          <p:nvPr/>
        </p:nvSpPr>
        <p:spPr>
          <a:xfrm>
            <a:off x="320167" y="203842"/>
            <a:ext cx="4132089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 Options (2/2)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5FA40D-8062-56B7-C225-E34C6785460F}"/>
              </a:ext>
            </a:extLst>
          </p:cNvPr>
          <p:cNvSpPr/>
          <p:nvPr/>
        </p:nvSpPr>
        <p:spPr>
          <a:xfrm>
            <a:off x="439914" y="1365222"/>
            <a:ext cx="8026007" cy="587141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B81A82-810E-7632-1FD7-F9B120A05967}"/>
              </a:ext>
            </a:extLst>
          </p:cNvPr>
          <p:cNvSpPr txBox="1"/>
          <p:nvPr/>
        </p:nvSpPr>
        <p:spPr>
          <a:xfrm>
            <a:off x="809991" y="5179135"/>
            <a:ext cx="42763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Selections based Region</a:t>
            </a:r>
            <a:r>
              <a:rPr lang="en-IN" dirty="0">
                <a:solidFill>
                  <a:srgbClr val="000000"/>
                </a:solidFill>
                <a:latin typeface="Aptos" panose="020B0004020202020204" pitchFamily="34" charset="0"/>
              </a:rPr>
              <a:t>, Segment, Ship Mode</a:t>
            </a:r>
            <a:endParaRPr lang="en-US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5353BD-AF0A-0CF0-585A-AADCD0448450}"/>
              </a:ext>
            </a:extLst>
          </p:cNvPr>
          <p:cNvSpPr txBox="1"/>
          <p:nvPr/>
        </p:nvSpPr>
        <p:spPr>
          <a:xfrm>
            <a:off x="6790828" y="5187556"/>
            <a:ext cx="427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Selections Quarter, Month, Year</a:t>
            </a:r>
            <a:endParaRPr lang="en-US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3" name="Picture 2" descr="BCG Logo and symbol, meaning, history, PNG, brand">
            <a:extLst>
              <a:ext uri="{FF2B5EF4-FFF2-40B4-BE49-F238E27FC236}">
                <a16:creationId xmlns:a16="http://schemas.microsoft.com/office/drawing/2014/main" id="{C00B49A3-B68F-9862-16D6-48A515141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25BDCE-551B-AF57-7B82-E712C8C53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91" y="2222899"/>
            <a:ext cx="2002021" cy="27074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710DA2-A7A8-CB82-6BEC-0D515847C3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2012" y="2529941"/>
            <a:ext cx="1672113" cy="24498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062723F-CEFA-32BE-A03B-4C70C604A1B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236"/>
          <a:stretch>
            <a:fillRect/>
          </a:stretch>
        </p:blipFill>
        <p:spPr>
          <a:xfrm>
            <a:off x="4752338" y="2481580"/>
            <a:ext cx="1672113" cy="24498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D13C52-DBB1-F70C-FCFB-598A7A3540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7294" y="2522647"/>
            <a:ext cx="1501312" cy="24498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1973C32-7FEF-1C6C-D593-5B4FEDDAB5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5921" y="2569941"/>
            <a:ext cx="1212879" cy="242405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00C5BD3-14E5-A672-253D-9CA6DAE5A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466"/>
          <a:stretch>
            <a:fillRect/>
          </a:stretch>
        </p:blipFill>
        <p:spPr>
          <a:xfrm>
            <a:off x="10199914" y="2665288"/>
            <a:ext cx="1303526" cy="208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10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B725A-0AE9-2945-ED8F-95EE76DB4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6AEE261-BC83-364A-E6B2-431B6A6D7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71" y="749216"/>
            <a:ext cx="6121837" cy="534678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6CCF73-8FDC-B027-7341-A90B044CD2C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78B83B9A-87C8-708A-7D82-DDBE6A0B2423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5612546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– Executive Insights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67CA3D14-D08F-B91E-3069-040A061A1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37C6B6-8A2D-3ACB-B03B-814076350484}"/>
              </a:ext>
            </a:extLst>
          </p:cNvPr>
          <p:cNvCxnSpPr>
            <a:cxnSpLocks/>
          </p:cNvCxnSpPr>
          <p:nvPr/>
        </p:nvCxnSpPr>
        <p:spPr>
          <a:xfrm>
            <a:off x="6182284" y="912070"/>
            <a:ext cx="6096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925EC00-3A16-9F29-757F-D6CF69612C93}"/>
              </a:ext>
            </a:extLst>
          </p:cNvPr>
          <p:cNvSpPr txBox="1"/>
          <p:nvPr/>
        </p:nvSpPr>
        <p:spPr>
          <a:xfrm>
            <a:off x="6655908" y="4316730"/>
            <a:ext cx="53331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 More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Expands the analysis to show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sales breakdown and deeper insights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4154E7-86D4-BDEB-376F-C26C2934E2A9}"/>
              </a:ext>
            </a:extLst>
          </p:cNvPr>
          <p:cNvCxnSpPr>
            <a:cxnSpLocks/>
          </p:cNvCxnSpPr>
          <p:nvPr/>
        </p:nvCxnSpPr>
        <p:spPr>
          <a:xfrm>
            <a:off x="4888201" y="4478602"/>
            <a:ext cx="176770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C5356A-6074-0306-8E8D-AB20B8960617}"/>
              </a:ext>
            </a:extLst>
          </p:cNvPr>
          <p:cNvCxnSpPr>
            <a:cxnSpLocks/>
          </p:cNvCxnSpPr>
          <p:nvPr/>
        </p:nvCxnSpPr>
        <p:spPr>
          <a:xfrm>
            <a:off x="3115757" y="4147457"/>
            <a:ext cx="353541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C18A268-20CC-DD5D-268D-0726DFCEDD54}"/>
              </a:ext>
            </a:extLst>
          </p:cNvPr>
          <p:cNvSpPr txBox="1"/>
          <p:nvPr/>
        </p:nvSpPr>
        <p:spPr>
          <a:xfrm>
            <a:off x="6655908" y="4016937"/>
            <a:ext cx="5333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Analysis</a:t>
            </a: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5A47C8-399C-6011-F34D-B945ED93A072}"/>
              </a:ext>
            </a:extLst>
          </p:cNvPr>
          <p:cNvSpPr txBox="1"/>
          <p:nvPr/>
        </p:nvSpPr>
        <p:spPr>
          <a:xfrm>
            <a:off x="6808308" y="804345"/>
            <a:ext cx="5333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 Analysis &amp; Home</a:t>
            </a: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807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2AC3C-4C83-F7F1-F871-69096796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35917A9-3166-4CE6-6E3B-170E8F5DD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44" y="760967"/>
            <a:ext cx="5279700" cy="55092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E07729-CAB0-F63F-451F-202D1506AF9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6FB2BA6-68D5-3910-8DD3-791F5F0F69AC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5612546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– Executive Insights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A28990-C2AF-4551-E4A4-E046F77F34C6}"/>
              </a:ext>
            </a:extLst>
          </p:cNvPr>
          <p:cNvSpPr/>
          <p:nvPr/>
        </p:nvSpPr>
        <p:spPr>
          <a:xfrm>
            <a:off x="555845" y="1862022"/>
            <a:ext cx="5072069" cy="587141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B8E669-E726-7ADF-AA32-64CC191B638D}"/>
              </a:ext>
            </a:extLst>
          </p:cNvPr>
          <p:cNvSpPr/>
          <p:nvPr/>
        </p:nvSpPr>
        <p:spPr>
          <a:xfrm>
            <a:off x="631244" y="4372514"/>
            <a:ext cx="4898700" cy="1736270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16D3E1-1CF8-7071-7BE1-16352EC152AB}"/>
              </a:ext>
            </a:extLst>
          </p:cNvPr>
          <p:cNvSpPr/>
          <p:nvPr/>
        </p:nvSpPr>
        <p:spPr>
          <a:xfrm>
            <a:off x="555842" y="2663334"/>
            <a:ext cx="2764301" cy="1495009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BBDD86-F00F-FCB0-7165-7E7FFAAD4B6F}"/>
              </a:ext>
            </a:extLst>
          </p:cNvPr>
          <p:cNvSpPr/>
          <p:nvPr/>
        </p:nvSpPr>
        <p:spPr>
          <a:xfrm>
            <a:off x="3430030" y="2731740"/>
            <a:ext cx="2099914" cy="1495009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D7AC483C-B6B4-31F9-E559-97889DD51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7D3959-73F8-5613-CAA2-7501847F1103}"/>
              </a:ext>
            </a:extLst>
          </p:cNvPr>
          <p:cNvSpPr txBox="1"/>
          <p:nvPr/>
        </p:nvSpPr>
        <p:spPr>
          <a:xfrm>
            <a:off x="5835773" y="674400"/>
            <a:ext cx="618388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– Summary</a:t>
            </a:r>
          </a:p>
          <a:p>
            <a:pPr>
              <a:buNone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Provide an overview of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sales performance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including revenue, profit, and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region-wise and segment-wise analysis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trends over time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understand performance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contributing customer segments and regions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None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Net Sales: 2.12M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generated from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793 customers and 1862 products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margin is 12.47%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stable profitability.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 rate is 8.53%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potential improvement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Consumer segment contributes the highest sales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compared to Corporate and Home Office.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trend shows a decline after 2020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suggesting a slowdown in demand.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top-performing segments and regions quickly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track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trends and performance changes over time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sales and product strategy decisions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257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C7785-0F4C-DDB5-49E3-4D8B670B3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F0AA8034-9779-CB64-D222-9A8EA6C30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43" y="770113"/>
            <a:ext cx="6121837" cy="559802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B946AA-F7F5-836D-75A0-0E8B187ABD2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78A737AB-A915-BA4E-42FB-5BA3959247D8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5612546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– Executive Insights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35BB2D-795B-2112-6D51-398402A429C3}"/>
              </a:ext>
            </a:extLst>
          </p:cNvPr>
          <p:cNvSpPr/>
          <p:nvPr/>
        </p:nvSpPr>
        <p:spPr>
          <a:xfrm>
            <a:off x="555845" y="1862022"/>
            <a:ext cx="5844955" cy="587141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598F3F-AC7A-F119-5D22-9B1D67F5BEB2}"/>
              </a:ext>
            </a:extLst>
          </p:cNvPr>
          <p:cNvSpPr/>
          <p:nvPr/>
        </p:nvSpPr>
        <p:spPr>
          <a:xfrm>
            <a:off x="631243" y="4372514"/>
            <a:ext cx="5844955" cy="1736270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17AD15-9DBC-5522-AC2B-DA251C201656}"/>
              </a:ext>
            </a:extLst>
          </p:cNvPr>
          <p:cNvSpPr/>
          <p:nvPr/>
        </p:nvSpPr>
        <p:spPr>
          <a:xfrm>
            <a:off x="555842" y="2663334"/>
            <a:ext cx="3313197" cy="1592731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F0F322-E47C-B435-8AD1-7118D05B5F62}"/>
              </a:ext>
            </a:extLst>
          </p:cNvPr>
          <p:cNvSpPr/>
          <p:nvPr/>
        </p:nvSpPr>
        <p:spPr>
          <a:xfrm>
            <a:off x="4027714" y="2761056"/>
            <a:ext cx="2373086" cy="1495009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41281A73-36EE-FAEC-1D3F-904DAC1AD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855265B-6CAF-D829-CB9B-D2888328E190}"/>
              </a:ext>
            </a:extLst>
          </p:cNvPr>
          <p:cNvCxnSpPr>
            <a:cxnSpLocks/>
          </p:cNvCxnSpPr>
          <p:nvPr/>
        </p:nvCxnSpPr>
        <p:spPr>
          <a:xfrm>
            <a:off x="6172200" y="1981200"/>
            <a:ext cx="6096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96DB70C-53FB-2116-8D7B-1018920B1138}"/>
              </a:ext>
            </a:extLst>
          </p:cNvPr>
          <p:cNvSpPr txBox="1"/>
          <p:nvPr/>
        </p:nvSpPr>
        <p:spPr>
          <a:xfrm>
            <a:off x="6759355" y="552304"/>
            <a:ext cx="533319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Overview – Sales</a:t>
            </a:r>
          </a:p>
          <a:p>
            <a:pPr>
              <a:buNone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KPI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Products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Number of products sold across all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Customers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Total unique customers generating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($)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Overall revenue generated from product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Profit ($)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Total profit earned from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Margin (%)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Profitability percentage across all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Achievement (%)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Comparison of actual sales against the target.</a:t>
            </a:r>
          </a:p>
          <a:p>
            <a:pPr>
              <a:buNone/>
            </a:pPr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Net Sales Trend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year-wise sales performance from 2018–2021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year sales with previous year performance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growth trends and changes in demand over time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None/>
            </a:pPr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Regional Sales Contribution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distribution across different regions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a map.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high-performing and low-performing geographic markets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None/>
            </a:pPr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Segment &amp; Category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 Sales distribution across customer segments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(Consumer, Corporate, Home Office).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comparison of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segment-wise sales across multiple years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customer segment contributes most to revenue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None/>
            </a:pPr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Interactive Filters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 for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Product, Customer, Category, Sub-Category, Region, Segment, Ship Mode, Quarter, Month, and Year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exploration of sales performance across different dimensions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DF0401-2ACF-EBAE-DB0B-60A08CEEC73F}"/>
              </a:ext>
            </a:extLst>
          </p:cNvPr>
          <p:cNvCxnSpPr>
            <a:cxnSpLocks/>
          </p:cNvCxnSpPr>
          <p:nvPr/>
        </p:nvCxnSpPr>
        <p:spPr>
          <a:xfrm flipV="1">
            <a:off x="3599760" y="2663334"/>
            <a:ext cx="3182040" cy="502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85DBF8-5F9D-AEFE-5080-FAC37E986744}"/>
              </a:ext>
            </a:extLst>
          </p:cNvPr>
          <p:cNvCxnSpPr>
            <a:cxnSpLocks/>
          </p:cNvCxnSpPr>
          <p:nvPr/>
        </p:nvCxnSpPr>
        <p:spPr>
          <a:xfrm>
            <a:off x="6172200" y="3799114"/>
            <a:ext cx="6096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4B8353C-B15E-45B9-D613-A2B6D402C651}"/>
              </a:ext>
            </a:extLst>
          </p:cNvPr>
          <p:cNvCxnSpPr>
            <a:cxnSpLocks/>
          </p:cNvCxnSpPr>
          <p:nvPr/>
        </p:nvCxnSpPr>
        <p:spPr>
          <a:xfrm>
            <a:off x="5998544" y="4876800"/>
            <a:ext cx="80451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486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25622-B69C-00A4-49B6-2E3D86FE2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3E0A785C-1EF2-C16E-99A4-3D508FBCB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43" y="770113"/>
            <a:ext cx="6121837" cy="559802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433B46-2EE4-F929-D586-BD68F2E195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8A8A250-A1B5-3154-5277-31D9A9DF5C74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6844304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– Executive Insights – View More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FF0B60-D728-0EE7-E2CC-FA32DA22D021}"/>
              </a:ext>
            </a:extLst>
          </p:cNvPr>
          <p:cNvSpPr/>
          <p:nvPr/>
        </p:nvSpPr>
        <p:spPr>
          <a:xfrm>
            <a:off x="631243" y="4372514"/>
            <a:ext cx="5844955" cy="1736270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AF4C2A0D-C04D-319F-BBEF-0266C5E35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9750B5-5401-7CA8-9D14-9085DAF4963C}"/>
              </a:ext>
            </a:extLst>
          </p:cNvPr>
          <p:cNvCxnSpPr>
            <a:cxnSpLocks/>
          </p:cNvCxnSpPr>
          <p:nvPr/>
        </p:nvCxnSpPr>
        <p:spPr>
          <a:xfrm>
            <a:off x="4833772" y="4680857"/>
            <a:ext cx="215485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78AFA538-63DF-23D4-8C7F-A9A6A051D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4472" y="1659799"/>
            <a:ext cx="4707360" cy="4708342"/>
          </a:xfrm>
          <a:prstGeom prst="rect">
            <a:avLst/>
          </a:prstGeom>
        </p:spPr>
      </p:pic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E2DD7BB3-84D1-E87D-F124-6D02B31F89CF}"/>
              </a:ext>
            </a:extLst>
          </p:cNvPr>
          <p:cNvSpPr/>
          <p:nvPr/>
        </p:nvSpPr>
        <p:spPr>
          <a:xfrm>
            <a:off x="4207771" y="5339461"/>
            <a:ext cx="2392909" cy="370077"/>
          </a:xfrm>
          <a:prstGeom prst="wedgeRoundRectCallout">
            <a:avLst>
              <a:gd name="adj1" fmla="val -34964"/>
              <a:gd name="adj2" fmla="val -18367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on “</a:t>
            </a:r>
            <a:r>
              <a:rPr lang="en-US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 more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 </a:t>
            </a:r>
          </a:p>
        </p:txBody>
      </p:sp>
    </p:spTree>
    <p:extLst>
      <p:ext uri="{BB962C8B-B14F-4D97-AF65-F5344CB8AC3E}">
        <p14:creationId xmlns:p14="http://schemas.microsoft.com/office/powerpoint/2010/main" val="4195720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A6673-84AB-3E39-A77B-2F353A0B7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F6A62B-4F6A-D438-EB21-823450A69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31" y="862487"/>
            <a:ext cx="5952267" cy="524629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1A9488-AE97-771A-ECFF-AEEEDAC931D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0B08153-B54A-FD72-CE65-F04A762D159F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5612546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 More – Segment Analysis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E1C35D-3EAA-E53D-582C-57EFFCD2D8AE}"/>
              </a:ext>
            </a:extLst>
          </p:cNvPr>
          <p:cNvSpPr/>
          <p:nvPr/>
        </p:nvSpPr>
        <p:spPr>
          <a:xfrm>
            <a:off x="555846" y="1862022"/>
            <a:ext cx="1270633" cy="1392803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6A79E-0394-19E0-2D9E-0D57651FEED4}"/>
              </a:ext>
            </a:extLst>
          </p:cNvPr>
          <p:cNvSpPr/>
          <p:nvPr/>
        </p:nvSpPr>
        <p:spPr>
          <a:xfrm>
            <a:off x="631244" y="4372514"/>
            <a:ext cx="5638928" cy="1736270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2E8B94-3098-FD19-AFEF-771CE0C6C175}"/>
              </a:ext>
            </a:extLst>
          </p:cNvPr>
          <p:cNvSpPr/>
          <p:nvPr/>
        </p:nvSpPr>
        <p:spPr>
          <a:xfrm>
            <a:off x="631243" y="3246827"/>
            <a:ext cx="5638928" cy="1007534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0A223D-82A4-1870-BEDF-66A6CD5617CD}"/>
              </a:ext>
            </a:extLst>
          </p:cNvPr>
          <p:cNvSpPr/>
          <p:nvPr/>
        </p:nvSpPr>
        <p:spPr>
          <a:xfrm>
            <a:off x="1928317" y="1869997"/>
            <a:ext cx="4341853" cy="1270534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103DC624-AC3E-B290-EEC7-43ACE5C3E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8EC972-BE5A-E911-1BB0-3B5549D6A181}"/>
              </a:ext>
            </a:extLst>
          </p:cNvPr>
          <p:cNvCxnSpPr>
            <a:cxnSpLocks/>
          </p:cNvCxnSpPr>
          <p:nvPr/>
        </p:nvCxnSpPr>
        <p:spPr>
          <a:xfrm>
            <a:off x="1704218" y="1981200"/>
            <a:ext cx="507758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80AB636-D636-8D06-7EBC-2E8C7FBFC277}"/>
              </a:ext>
            </a:extLst>
          </p:cNvPr>
          <p:cNvSpPr txBox="1"/>
          <p:nvPr/>
        </p:nvSpPr>
        <p:spPr>
          <a:xfrm>
            <a:off x="6781799" y="1280559"/>
            <a:ext cx="514580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KPI Cards</a:t>
            </a: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Profit ($)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Displays total profit generated from all customer segments.</a:t>
            </a: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Discount (%)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Shows the average discount applied across sales transactions.</a:t>
            </a: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Total number of orders placed by customers.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Net Sales by Segment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 Sales and Profit across customer segments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(Consumer, Corporate, Home Office).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customer segment contributes the most revenue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Sales &amp; Profit Trend by Segment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and profit performance over time (2018–2021)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each segment.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track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 growth patterns and profitability trends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Top Customers Analysis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10 customers based on Net Sales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Name, Segment, Total Sales, and Margin %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high-value customers contributing the most revenue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EF3D810-F05B-1314-D232-0FCEA870D812}"/>
              </a:ext>
            </a:extLst>
          </p:cNvPr>
          <p:cNvCxnSpPr>
            <a:cxnSpLocks/>
          </p:cNvCxnSpPr>
          <p:nvPr/>
        </p:nvCxnSpPr>
        <p:spPr>
          <a:xfrm>
            <a:off x="4407524" y="2721429"/>
            <a:ext cx="227243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6935F8-19AE-79C4-092A-1C3F8AD2C238}"/>
              </a:ext>
            </a:extLst>
          </p:cNvPr>
          <p:cNvCxnSpPr>
            <a:cxnSpLocks/>
          </p:cNvCxnSpPr>
          <p:nvPr/>
        </p:nvCxnSpPr>
        <p:spPr>
          <a:xfrm>
            <a:off x="6172200" y="3799114"/>
            <a:ext cx="6096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98465B-5706-8D2A-6B25-7A734BC1AD59}"/>
              </a:ext>
            </a:extLst>
          </p:cNvPr>
          <p:cNvCxnSpPr>
            <a:cxnSpLocks/>
          </p:cNvCxnSpPr>
          <p:nvPr/>
        </p:nvCxnSpPr>
        <p:spPr>
          <a:xfrm>
            <a:off x="5998544" y="4876800"/>
            <a:ext cx="80451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58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B07E5-DE2A-861F-B11C-43DF2EFB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B8D8B0-4770-3C45-62F0-8E92ECF39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10" y="793220"/>
            <a:ext cx="5965498" cy="536414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EBE3C7-EC25-7260-294A-6396691E719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3F60A0FD-8A78-7E67-6CFC-EDACC4D9A20C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5612546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 More – Category Analysis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55DAC1-BCA6-B205-BA98-7A2B1FC9B3E3}"/>
              </a:ext>
            </a:extLst>
          </p:cNvPr>
          <p:cNvSpPr/>
          <p:nvPr/>
        </p:nvSpPr>
        <p:spPr>
          <a:xfrm>
            <a:off x="555846" y="2109852"/>
            <a:ext cx="2906613" cy="1648227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3CF914-B484-915B-42A8-C99E9A34DBB2}"/>
              </a:ext>
            </a:extLst>
          </p:cNvPr>
          <p:cNvSpPr/>
          <p:nvPr/>
        </p:nvSpPr>
        <p:spPr>
          <a:xfrm>
            <a:off x="555910" y="5575993"/>
            <a:ext cx="5801347" cy="520010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ED5B58-A232-8D0B-8EAB-D0971ABB508D}"/>
              </a:ext>
            </a:extLst>
          </p:cNvPr>
          <p:cNvSpPr/>
          <p:nvPr/>
        </p:nvSpPr>
        <p:spPr>
          <a:xfrm>
            <a:off x="3537857" y="2109853"/>
            <a:ext cx="2981882" cy="1648234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E776D1D9-F2B8-96E5-872F-C35D77815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9EC123-9CE1-A974-AA64-251E022CD575}"/>
              </a:ext>
            </a:extLst>
          </p:cNvPr>
          <p:cNvCxnSpPr>
            <a:cxnSpLocks/>
          </p:cNvCxnSpPr>
          <p:nvPr/>
        </p:nvCxnSpPr>
        <p:spPr>
          <a:xfrm>
            <a:off x="2553304" y="2318657"/>
            <a:ext cx="422849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FAE7A74-B50A-7E2E-1CEB-29750126F881}"/>
              </a:ext>
            </a:extLst>
          </p:cNvPr>
          <p:cNvSpPr txBox="1"/>
          <p:nvPr/>
        </p:nvSpPr>
        <p:spPr>
          <a:xfrm>
            <a:off x="6842501" y="2109664"/>
            <a:ext cx="514580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Return Analysis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returned sales and return rate by product category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(Technology, Furniture, Office Supplies).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Categorizes return levels (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/ Medium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to quickly identify problem areas.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Category Sales Contribution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contribution by product category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category generates the most revenue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Sub-Category Sales Growth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year-over-year sales performance by sub-category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(Binders, Chairs, Phones, Storage, Tables).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top-performing and declining product groups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Key Insights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A90FAF-22BE-A74A-FD7C-BA10E8616323}"/>
              </a:ext>
            </a:extLst>
          </p:cNvPr>
          <p:cNvCxnSpPr>
            <a:cxnSpLocks/>
          </p:cNvCxnSpPr>
          <p:nvPr/>
        </p:nvCxnSpPr>
        <p:spPr>
          <a:xfrm>
            <a:off x="6193168" y="3581401"/>
            <a:ext cx="583961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EB715B-993D-45EF-57BD-7772743E76E6}"/>
              </a:ext>
            </a:extLst>
          </p:cNvPr>
          <p:cNvCxnSpPr>
            <a:cxnSpLocks/>
          </p:cNvCxnSpPr>
          <p:nvPr/>
        </p:nvCxnSpPr>
        <p:spPr>
          <a:xfrm>
            <a:off x="6042952" y="4572000"/>
            <a:ext cx="80451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D22A5A1-BF6D-4100-5021-A99C2DD75A99}"/>
              </a:ext>
            </a:extLst>
          </p:cNvPr>
          <p:cNvSpPr/>
          <p:nvPr/>
        </p:nvSpPr>
        <p:spPr>
          <a:xfrm>
            <a:off x="555847" y="3966171"/>
            <a:ext cx="6116292" cy="1532546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F682A3-D94E-46B1-7F83-9BCDE78C2761}"/>
              </a:ext>
            </a:extLst>
          </p:cNvPr>
          <p:cNvCxnSpPr>
            <a:cxnSpLocks/>
          </p:cNvCxnSpPr>
          <p:nvPr/>
        </p:nvCxnSpPr>
        <p:spPr>
          <a:xfrm>
            <a:off x="5890036" y="5957471"/>
            <a:ext cx="95742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737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E2B86-881A-9633-1C29-314D662FF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25C1AC-663D-403F-7161-E373E61CC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43" y="862487"/>
            <a:ext cx="5965498" cy="536414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BFD1BA-BD25-8D1C-FA8C-E04DDF6FB4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039339A5-AF2C-8BE1-595D-2CF4CDCF6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CEED83B4-5940-ACF5-7D1F-4465A2A4F804}"/>
              </a:ext>
            </a:extLst>
          </p:cNvPr>
          <p:cNvSpPr/>
          <p:nvPr/>
        </p:nvSpPr>
        <p:spPr>
          <a:xfrm>
            <a:off x="4785180" y="3874936"/>
            <a:ext cx="1404386" cy="473668"/>
          </a:xfrm>
          <a:prstGeom prst="wedgeRoundRectCallout">
            <a:avLst>
              <a:gd name="adj1" fmla="val -34964"/>
              <a:gd name="adj2" fmla="val -18367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on “</a:t>
            </a:r>
            <a:r>
              <a:rPr lang="en-US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 Chart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 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8525F32C-8FED-4846-2F12-1E1369EEFC23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5612546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 More – Category Analysis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FD8F835-E246-33F7-7DE2-0D5BEEAED802}"/>
              </a:ext>
            </a:extLst>
          </p:cNvPr>
          <p:cNvCxnSpPr>
            <a:cxnSpLocks/>
          </p:cNvCxnSpPr>
          <p:nvPr/>
        </p:nvCxnSpPr>
        <p:spPr>
          <a:xfrm flipV="1">
            <a:off x="6012780" y="1807029"/>
            <a:ext cx="1443934" cy="121232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AD33132-F04D-C31E-F0EE-2810921B0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514" y="358993"/>
            <a:ext cx="3091543" cy="2359336"/>
          </a:xfrm>
          <a:prstGeom prst="rect">
            <a:avLst/>
          </a:prstGeom>
        </p:spPr>
      </p:pic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07A8C8B6-9E3D-5D58-9EB1-147B947FF425}"/>
              </a:ext>
            </a:extLst>
          </p:cNvPr>
          <p:cNvSpPr/>
          <p:nvPr/>
        </p:nvSpPr>
        <p:spPr>
          <a:xfrm>
            <a:off x="8714923" y="1928258"/>
            <a:ext cx="1680934" cy="473668"/>
          </a:xfrm>
          <a:prstGeom prst="wedgeRoundRectCallout">
            <a:avLst>
              <a:gd name="adj1" fmla="val -34964"/>
              <a:gd name="adj2" fmla="val -18367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on “</a:t>
            </a:r>
            <a:r>
              <a:rPr lang="en-US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Drill down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530D8AB-FDBA-29F9-A742-AA15CD3318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0113" y="2871471"/>
            <a:ext cx="2862944" cy="1416123"/>
          </a:xfrm>
          <a:prstGeom prst="rect">
            <a:avLst/>
          </a:prstGeom>
        </p:spPr>
      </p:pic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35056692-E01C-56B9-EB82-28204DA9E31F}"/>
              </a:ext>
            </a:extLst>
          </p:cNvPr>
          <p:cNvSpPr/>
          <p:nvPr/>
        </p:nvSpPr>
        <p:spPr>
          <a:xfrm>
            <a:off x="9172122" y="4139672"/>
            <a:ext cx="2181677" cy="473668"/>
          </a:xfrm>
          <a:prstGeom prst="wedgeRoundRectCallout">
            <a:avLst>
              <a:gd name="adj1" fmla="val -34964"/>
              <a:gd name="adj2" fmla="val -18367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on “</a:t>
            </a:r>
            <a:r>
              <a:rPr lang="en-US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of the Category”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3642337-8295-4F7B-4864-72C8F19FAB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0491" y="4883282"/>
            <a:ext cx="2882565" cy="1569265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58D7178-9326-682E-101A-EDCE49CD4BD5}"/>
              </a:ext>
            </a:extLst>
          </p:cNvPr>
          <p:cNvCxnSpPr>
            <a:cxnSpLocks/>
          </p:cNvCxnSpPr>
          <p:nvPr/>
        </p:nvCxnSpPr>
        <p:spPr>
          <a:xfrm>
            <a:off x="9307285" y="2618348"/>
            <a:ext cx="0" cy="50624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C96473-41CC-C22C-B60F-613B2C0FD504}"/>
              </a:ext>
            </a:extLst>
          </p:cNvPr>
          <p:cNvCxnSpPr>
            <a:cxnSpLocks/>
          </p:cNvCxnSpPr>
          <p:nvPr/>
        </p:nvCxnSpPr>
        <p:spPr>
          <a:xfrm>
            <a:off x="8937171" y="4136666"/>
            <a:ext cx="0" cy="50624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BC32A8D9-B803-3322-6CDD-1AD411B9E8F6}"/>
              </a:ext>
            </a:extLst>
          </p:cNvPr>
          <p:cNvSpPr txBox="1">
            <a:spLocks/>
          </p:cNvSpPr>
          <p:nvPr/>
        </p:nvSpPr>
        <p:spPr>
          <a:xfrm>
            <a:off x="7990112" y="6452547"/>
            <a:ext cx="3276601" cy="26994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Preview of all the subcategories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498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85AAF-FA9B-38E4-EF1D-1147534C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A40D5F-DB9F-57D3-55DE-51F79F348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43" y="862487"/>
            <a:ext cx="5965498" cy="536414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8CD983-03DC-BB9B-C493-BF9108118E1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1EEB93E2-83D2-71B2-67C6-7A154723E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4CB8CC31-D4EF-D340-D91A-33E35A178BB0}"/>
              </a:ext>
            </a:extLst>
          </p:cNvPr>
          <p:cNvSpPr/>
          <p:nvPr/>
        </p:nvSpPr>
        <p:spPr>
          <a:xfrm>
            <a:off x="5487373" y="4827675"/>
            <a:ext cx="1947570" cy="551675"/>
          </a:xfrm>
          <a:prstGeom prst="wedgeRoundRectCallout">
            <a:avLst>
              <a:gd name="adj1" fmla="val -34964"/>
              <a:gd name="adj2" fmla="val -18367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on “</a:t>
            </a:r>
            <a:r>
              <a:rPr lang="en-US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EC4EF51-8F23-6655-6C51-EE6C2890EAE2}"/>
              </a:ext>
            </a:extLst>
          </p:cNvPr>
          <p:cNvCxnSpPr>
            <a:cxnSpLocks/>
          </p:cNvCxnSpPr>
          <p:nvPr/>
        </p:nvCxnSpPr>
        <p:spPr>
          <a:xfrm>
            <a:off x="7293429" y="5103513"/>
            <a:ext cx="343301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35E1145-3AE0-2DDE-0714-5D375CBDA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6428" y="4847645"/>
            <a:ext cx="4137712" cy="1422473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02D599BD-459D-29CA-DFB1-25EC0F5635A0}"/>
              </a:ext>
            </a:extLst>
          </p:cNvPr>
          <p:cNvSpPr/>
          <p:nvPr/>
        </p:nvSpPr>
        <p:spPr>
          <a:xfrm>
            <a:off x="631243" y="3728219"/>
            <a:ext cx="1404386" cy="473668"/>
          </a:xfrm>
          <a:prstGeom prst="wedgeRoundRectCallout">
            <a:avLst>
              <a:gd name="adj1" fmla="val -34964"/>
              <a:gd name="adj2" fmla="val -18367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on “</a:t>
            </a:r>
            <a:r>
              <a:rPr lang="en-US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91C436-102B-A674-CF70-6AB955FAD6DE}"/>
              </a:ext>
            </a:extLst>
          </p:cNvPr>
          <p:cNvCxnSpPr>
            <a:cxnSpLocks/>
          </p:cNvCxnSpPr>
          <p:nvPr/>
        </p:nvCxnSpPr>
        <p:spPr>
          <a:xfrm flipV="1">
            <a:off x="9613506" y="1956672"/>
            <a:ext cx="0" cy="77999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B9F1F57-77D8-20D8-FF85-D8B96C1DCA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211" y="2736668"/>
            <a:ext cx="3645545" cy="1333569"/>
          </a:xfrm>
          <a:prstGeom prst="rect">
            <a:avLst/>
          </a:prstGeom>
        </p:spPr>
      </p:pic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3D857569-B0CF-D878-A00B-7358A9C4876E}"/>
              </a:ext>
            </a:extLst>
          </p:cNvPr>
          <p:cNvSpPr txBox="1">
            <a:spLocks/>
          </p:cNvSpPr>
          <p:nvPr/>
        </p:nvSpPr>
        <p:spPr>
          <a:xfrm>
            <a:off x="8431988" y="616241"/>
            <a:ext cx="3052441" cy="82479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Subgategory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Products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107CC7-BAA6-F04F-7BF3-9426D509D2BB}"/>
              </a:ext>
            </a:extLst>
          </p:cNvPr>
          <p:cNvCxnSpPr>
            <a:cxnSpLocks/>
          </p:cNvCxnSpPr>
          <p:nvPr/>
        </p:nvCxnSpPr>
        <p:spPr>
          <a:xfrm>
            <a:off x="1133534" y="3555853"/>
            <a:ext cx="681303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744EC123-C8D2-34D4-C5B6-B8FDCE79977F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5612546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 More – Category Analysis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896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33936-E8B5-9FC8-A4CE-1C497CF3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16CF167-D5CE-CB73-5DAA-1010484C4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62" y="755922"/>
            <a:ext cx="6149243" cy="556866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267786-8B6C-6659-F911-29FB9E1B6F3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D59DAF7-338C-169D-DAF6-F50F52AAF149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5612546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 More – Region Analysis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35F33F-9A04-CF72-C572-1E422998D742}"/>
              </a:ext>
            </a:extLst>
          </p:cNvPr>
          <p:cNvSpPr/>
          <p:nvPr/>
        </p:nvSpPr>
        <p:spPr>
          <a:xfrm>
            <a:off x="555847" y="2109853"/>
            <a:ext cx="2481268" cy="1436394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39D863-54F4-23C4-5F73-BBE3A3DE5F27}"/>
              </a:ext>
            </a:extLst>
          </p:cNvPr>
          <p:cNvSpPr/>
          <p:nvPr/>
        </p:nvSpPr>
        <p:spPr>
          <a:xfrm>
            <a:off x="555910" y="5002416"/>
            <a:ext cx="2666261" cy="1225911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CC6FD614-7ECB-700C-4035-8AEB2B926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B329FD-9A2A-4970-B732-36D7C01B9207}"/>
              </a:ext>
            </a:extLst>
          </p:cNvPr>
          <p:cNvCxnSpPr>
            <a:cxnSpLocks/>
          </p:cNvCxnSpPr>
          <p:nvPr/>
        </p:nvCxnSpPr>
        <p:spPr>
          <a:xfrm>
            <a:off x="2553304" y="2318657"/>
            <a:ext cx="422849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1D39BEA-A175-E403-3357-D49022D6B5F4}"/>
              </a:ext>
            </a:extLst>
          </p:cNvPr>
          <p:cNvSpPr txBox="1"/>
          <p:nvPr/>
        </p:nvSpPr>
        <p:spPr>
          <a:xfrm>
            <a:off x="6948224" y="1704013"/>
            <a:ext cx="514580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 Selection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users to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sales performance by region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(Central, East, South, West).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compare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sales and operational performance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Region Head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the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responsible manager for each region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track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accountability and performance ownership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Return Rate by Region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 percentage across regions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regions with higher product return levels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Regional Sales Contribution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achievement status for each region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monitor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sales performance against targets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Geographic Sales Distribution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 visualization showing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presence across different states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high-performing and underperforming locations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007884-3873-9202-AF3E-17490C4C1B27}"/>
              </a:ext>
            </a:extLst>
          </p:cNvPr>
          <p:cNvCxnSpPr>
            <a:cxnSpLocks/>
          </p:cNvCxnSpPr>
          <p:nvPr/>
        </p:nvCxnSpPr>
        <p:spPr>
          <a:xfrm>
            <a:off x="3137875" y="5187570"/>
            <a:ext cx="381034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C55443E-D5D7-6ADB-BFF4-58C6279BA739}"/>
              </a:ext>
            </a:extLst>
          </p:cNvPr>
          <p:cNvSpPr/>
          <p:nvPr/>
        </p:nvSpPr>
        <p:spPr>
          <a:xfrm>
            <a:off x="592659" y="3774828"/>
            <a:ext cx="2481268" cy="1274196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619532-77BC-4241-F4F1-A72FE7AA04AE}"/>
              </a:ext>
            </a:extLst>
          </p:cNvPr>
          <p:cNvCxnSpPr>
            <a:cxnSpLocks/>
          </p:cNvCxnSpPr>
          <p:nvPr/>
        </p:nvCxnSpPr>
        <p:spPr>
          <a:xfrm>
            <a:off x="2719729" y="4114799"/>
            <a:ext cx="422849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AB09B7E-6384-B723-74A3-07FB823A8A81}"/>
              </a:ext>
            </a:extLst>
          </p:cNvPr>
          <p:cNvCxnSpPr>
            <a:cxnSpLocks/>
          </p:cNvCxnSpPr>
          <p:nvPr/>
        </p:nvCxnSpPr>
        <p:spPr>
          <a:xfrm>
            <a:off x="5287768" y="4811485"/>
            <a:ext cx="1660456" cy="9342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981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0F48C-538A-FA2A-E945-A17A14E60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8B4EFA-C731-3C8C-CF56-5A1837795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62" y="755922"/>
            <a:ext cx="6149243" cy="556866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95FED2-1F99-5A80-BBF2-2194E7F48A8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D07D3EA5-A8B2-25A2-737A-C6CAC5D44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B71C3008-83CE-3FDC-A7CC-4DF35A6D10BF}"/>
              </a:ext>
            </a:extLst>
          </p:cNvPr>
          <p:cNvSpPr/>
          <p:nvPr/>
        </p:nvSpPr>
        <p:spPr>
          <a:xfrm>
            <a:off x="2547128" y="5850917"/>
            <a:ext cx="2111958" cy="473668"/>
          </a:xfrm>
          <a:prstGeom prst="wedgeRoundRectCallout">
            <a:avLst>
              <a:gd name="adj1" fmla="val -34964"/>
              <a:gd name="adj2" fmla="val -18367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on “</a:t>
            </a:r>
            <a:r>
              <a:rPr lang="en-US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Analysis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F14A82E-DAEA-FA03-49D8-8306E96582DE}"/>
              </a:ext>
            </a:extLst>
          </p:cNvPr>
          <p:cNvCxnSpPr>
            <a:cxnSpLocks/>
          </p:cNvCxnSpPr>
          <p:nvPr/>
        </p:nvCxnSpPr>
        <p:spPr>
          <a:xfrm>
            <a:off x="2866883" y="5134281"/>
            <a:ext cx="511234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D3B6DC14-5AD5-53DB-3D09-98C3599095C8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5612546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 More – Region Analysis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E7E5624-1893-FE2A-017C-C7A2F514C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606" y="3320143"/>
            <a:ext cx="3391074" cy="322761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272D49-5565-B134-0703-53F1CBE16DFC}"/>
              </a:ext>
            </a:extLst>
          </p:cNvPr>
          <p:cNvCxnSpPr>
            <a:cxnSpLocks/>
          </p:cNvCxnSpPr>
          <p:nvPr/>
        </p:nvCxnSpPr>
        <p:spPr>
          <a:xfrm>
            <a:off x="5932714" y="2434625"/>
            <a:ext cx="179220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C6CCA99-CF88-6ED7-6E76-0549A7B7167B}"/>
              </a:ext>
            </a:extLst>
          </p:cNvPr>
          <p:cNvSpPr txBox="1">
            <a:spLocks/>
          </p:cNvSpPr>
          <p:nvPr/>
        </p:nvSpPr>
        <p:spPr>
          <a:xfrm>
            <a:off x="6285809" y="2120565"/>
            <a:ext cx="1116746" cy="35386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Hover on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315B2CE-E659-47C1-AEB3-4134CE62B1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2141" y="1390109"/>
            <a:ext cx="3835597" cy="12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83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22B4C-E3D2-4BF3-4477-4FF48CC2D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761BB8F-D07A-3ECB-AE65-663011880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1" y="900528"/>
            <a:ext cx="6116229" cy="523351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77193A-AEC1-8EBA-2AB1-B8276C8C4E6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7C4943BC-1901-F797-2525-66D2F7B4B5A8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6929718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– Overall Analysis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FCF126-87B9-C54A-73D1-934CE4AB82B6}"/>
              </a:ext>
            </a:extLst>
          </p:cNvPr>
          <p:cNvSpPr/>
          <p:nvPr/>
        </p:nvSpPr>
        <p:spPr>
          <a:xfrm>
            <a:off x="619492" y="1778797"/>
            <a:ext cx="5857508" cy="1432490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EA89C5-7990-2E6B-8E29-1BD5F3CE80D2}"/>
              </a:ext>
            </a:extLst>
          </p:cNvPr>
          <p:cNvSpPr/>
          <p:nvPr/>
        </p:nvSpPr>
        <p:spPr>
          <a:xfrm>
            <a:off x="597069" y="4797617"/>
            <a:ext cx="5879931" cy="1273629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56FA5F3D-F40F-FDF0-844A-2134732F2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67702C-333A-D1C2-633F-DA6AF57EA89C}"/>
              </a:ext>
            </a:extLst>
          </p:cNvPr>
          <p:cNvCxnSpPr>
            <a:cxnSpLocks/>
          </p:cNvCxnSpPr>
          <p:nvPr/>
        </p:nvCxnSpPr>
        <p:spPr>
          <a:xfrm>
            <a:off x="2553304" y="2318657"/>
            <a:ext cx="422849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EBBAA3A-6DE6-E569-8F72-AEB2E886E51D}"/>
              </a:ext>
            </a:extLst>
          </p:cNvPr>
          <p:cNvSpPr txBox="1"/>
          <p:nvPr/>
        </p:nvSpPr>
        <p:spPr>
          <a:xfrm>
            <a:off x="6842501" y="2109664"/>
            <a:ext cx="514580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 Sales Trend with Anomaly Detection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net sales trend over time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spikes and unusual patterns (anomalies)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may indicate promotions, demand surges, or operational issues.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Product Sales Performance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products based on total sales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year sales vs previous year sales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variance and growth percentage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identify high-performing products.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Customer Sales Performance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customers contributing to revenue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year vs previous year customer sales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customers driving growth and profitability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Performance Comparison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variance between current and previous year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track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growth and identify performance improvements or declines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2BFFCB-7EB4-89C2-5B88-B81DDF36757E}"/>
              </a:ext>
            </a:extLst>
          </p:cNvPr>
          <p:cNvCxnSpPr>
            <a:cxnSpLocks/>
          </p:cNvCxnSpPr>
          <p:nvPr/>
        </p:nvCxnSpPr>
        <p:spPr>
          <a:xfrm>
            <a:off x="6193168" y="3581401"/>
            <a:ext cx="583961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1EAFB7-5244-B771-F9B9-BDBA0E7DD52D}"/>
              </a:ext>
            </a:extLst>
          </p:cNvPr>
          <p:cNvCxnSpPr>
            <a:cxnSpLocks/>
          </p:cNvCxnSpPr>
          <p:nvPr/>
        </p:nvCxnSpPr>
        <p:spPr>
          <a:xfrm>
            <a:off x="6074744" y="4963886"/>
            <a:ext cx="80451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BD006-B933-A696-10F3-6E5E1B30E1D4}"/>
              </a:ext>
            </a:extLst>
          </p:cNvPr>
          <p:cNvSpPr/>
          <p:nvPr/>
        </p:nvSpPr>
        <p:spPr>
          <a:xfrm>
            <a:off x="597069" y="3429000"/>
            <a:ext cx="5879931" cy="1167756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C0E38F-E2E6-17C1-DAFF-F4D46A4966AF}"/>
              </a:ext>
            </a:extLst>
          </p:cNvPr>
          <p:cNvCxnSpPr>
            <a:cxnSpLocks/>
          </p:cNvCxnSpPr>
          <p:nvPr/>
        </p:nvCxnSpPr>
        <p:spPr>
          <a:xfrm>
            <a:off x="4326038" y="1654629"/>
            <a:ext cx="255321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5F7F761-5CBB-D094-9F5A-C352BE19F924}"/>
              </a:ext>
            </a:extLst>
          </p:cNvPr>
          <p:cNvSpPr txBox="1"/>
          <p:nvPr/>
        </p:nvSpPr>
        <p:spPr>
          <a:xfrm>
            <a:off x="6842501" y="1488916"/>
            <a:ext cx="45828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 sales are displayed only when a specific year filter is applied</a:t>
            </a:r>
            <a:r>
              <a:rPr lang="en-GB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2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622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1FE13-B8DB-7FA1-77AE-88BA3299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6B2839-EEC8-345C-7DDD-8EB85718D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92" y="862487"/>
            <a:ext cx="6848042" cy="238364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69718B-5493-F2EA-5AE3-07A7A28453F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36D69ED-BF23-67F2-1A48-817F4E906B0D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6929718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– Overall Analysis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D82D4B87-5024-1344-F0CD-4D5189FDE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902762-6507-600B-930C-BAC84B129C76}"/>
              </a:ext>
            </a:extLst>
          </p:cNvPr>
          <p:cNvCxnSpPr>
            <a:cxnSpLocks/>
          </p:cNvCxnSpPr>
          <p:nvPr/>
        </p:nvCxnSpPr>
        <p:spPr>
          <a:xfrm>
            <a:off x="5353286" y="1905000"/>
            <a:ext cx="581545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74D4E145-D8E9-FC9C-8F7E-C966EB4822C9}"/>
              </a:ext>
            </a:extLst>
          </p:cNvPr>
          <p:cNvSpPr txBox="1">
            <a:spLocks/>
          </p:cNvSpPr>
          <p:nvPr/>
        </p:nvSpPr>
        <p:spPr>
          <a:xfrm>
            <a:off x="7467534" y="1589166"/>
            <a:ext cx="3621185" cy="15790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on a specific Anomaly for Analysis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CEA3FED-305D-ECAA-7A6E-0E5335A29C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9185" y="3364869"/>
            <a:ext cx="2663323" cy="30204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0E8C5BD-A08E-74A9-5F7F-937EA2438E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7254" y="3404064"/>
            <a:ext cx="2782745" cy="29420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7ED26AD-565D-7679-34F3-E54789259B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402" y="3429000"/>
            <a:ext cx="3238666" cy="291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007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F9A14-E5F8-A987-0324-0A8F9B566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91C4CD-E444-7C29-C5A4-FFE4F8820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74" y="786753"/>
            <a:ext cx="6127812" cy="540721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CFC6554-E2EF-FFA9-F26E-6165DD9A40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7A33D684-55BB-D89D-681E-07DD5209B923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9509632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– Target &amp; Benchmark Analysis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6E2D0-F98B-8673-195C-A4FB84884683}"/>
              </a:ext>
            </a:extLst>
          </p:cNvPr>
          <p:cNvSpPr/>
          <p:nvPr/>
        </p:nvSpPr>
        <p:spPr>
          <a:xfrm>
            <a:off x="619493" y="1778797"/>
            <a:ext cx="1220194" cy="1432490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ADAA7E-DE0F-5B31-097C-B1B65529FBE8}"/>
              </a:ext>
            </a:extLst>
          </p:cNvPr>
          <p:cNvSpPr/>
          <p:nvPr/>
        </p:nvSpPr>
        <p:spPr>
          <a:xfrm>
            <a:off x="597069" y="4844145"/>
            <a:ext cx="5879931" cy="1349821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A0F9F79A-9311-30E8-1096-C8A456F89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340AB3-AE43-FD07-9B6F-6E3848BBD731}"/>
              </a:ext>
            </a:extLst>
          </p:cNvPr>
          <p:cNvCxnSpPr>
            <a:cxnSpLocks/>
          </p:cNvCxnSpPr>
          <p:nvPr/>
        </p:nvCxnSpPr>
        <p:spPr>
          <a:xfrm>
            <a:off x="4904619" y="2884714"/>
            <a:ext cx="1904251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FCB4D4E-9B4C-E28D-CB88-C949E92D29CD}"/>
              </a:ext>
            </a:extLst>
          </p:cNvPr>
          <p:cNvSpPr txBox="1"/>
          <p:nvPr/>
        </p:nvSpPr>
        <p:spPr>
          <a:xfrm>
            <a:off x="6808870" y="1284780"/>
            <a:ext cx="514580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KPI Cards</a:t>
            </a: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 Sales ($)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Total revenue generated across all regions.</a:t>
            </a: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Target ($)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Overall sales target set for the selected period.</a:t>
            </a: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Achievement (%)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Percentage of target achieved based on actual sales.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Sales vs Target by Region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actual sales with target values across regions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(West, Central, East, South).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regions that are meeting or falling short of sales targets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State Sales Performance vs Target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state-level comparison of net sales against targets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achievement percentage and status (Achieved / Not Achieved)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underperforming states that require attention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Geographic Target Performance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 visualization showing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state-wise sales performance and distribution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sales concentration and performance gaps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Performance Insight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comparison between total sales and target values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measure business performance.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evaluate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effectively sales targets are being achieved across regions and states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14AD5E-48CD-A061-3A62-CEE33CE3C73F}"/>
              </a:ext>
            </a:extLst>
          </p:cNvPr>
          <p:cNvCxnSpPr>
            <a:cxnSpLocks/>
          </p:cNvCxnSpPr>
          <p:nvPr/>
        </p:nvCxnSpPr>
        <p:spPr>
          <a:xfrm>
            <a:off x="6224909" y="3744686"/>
            <a:ext cx="583961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DA69A73-A679-4A4E-AF5C-BB5049474E49}"/>
              </a:ext>
            </a:extLst>
          </p:cNvPr>
          <p:cNvCxnSpPr>
            <a:cxnSpLocks/>
          </p:cNvCxnSpPr>
          <p:nvPr/>
        </p:nvCxnSpPr>
        <p:spPr>
          <a:xfrm>
            <a:off x="6074744" y="4963886"/>
            <a:ext cx="80451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4DAA51F-5A8E-BB5E-02A1-E22F0C404DB7}"/>
              </a:ext>
            </a:extLst>
          </p:cNvPr>
          <p:cNvSpPr/>
          <p:nvPr/>
        </p:nvSpPr>
        <p:spPr>
          <a:xfrm>
            <a:off x="597069" y="3323127"/>
            <a:ext cx="5879931" cy="1432489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59C0D6-F8EE-CB22-733A-1FC31E85A042}"/>
              </a:ext>
            </a:extLst>
          </p:cNvPr>
          <p:cNvCxnSpPr>
            <a:cxnSpLocks/>
          </p:cNvCxnSpPr>
          <p:nvPr/>
        </p:nvCxnSpPr>
        <p:spPr>
          <a:xfrm flipV="1">
            <a:off x="1704218" y="1970314"/>
            <a:ext cx="5072911" cy="979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B9BBC-23BD-425A-1060-F865820942DE}"/>
              </a:ext>
            </a:extLst>
          </p:cNvPr>
          <p:cNvSpPr/>
          <p:nvPr/>
        </p:nvSpPr>
        <p:spPr>
          <a:xfrm>
            <a:off x="1946706" y="1778797"/>
            <a:ext cx="4334351" cy="1432490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1863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04E1C-B208-A509-FEC2-823DCD05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8AF861-0087-8B67-BECD-59B8A47E7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44" y="862487"/>
            <a:ext cx="6022141" cy="538590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F24B0B-A687-B93C-1C1C-543218B3982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346B7CFC-1F79-07AD-A7E2-8619B69CEF0D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9509632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– What if Analysis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8060C-F8CB-3912-F463-06F91AA9558B}"/>
              </a:ext>
            </a:extLst>
          </p:cNvPr>
          <p:cNvSpPr/>
          <p:nvPr/>
        </p:nvSpPr>
        <p:spPr>
          <a:xfrm>
            <a:off x="619492" y="2180126"/>
            <a:ext cx="3495307" cy="737245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587BA-A0F6-1432-DDC7-9661651111AA}"/>
              </a:ext>
            </a:extLst>
          </p:cNvPr>
          <p:cNvSpPr/>
          <p:nvPr/>
        </p:nvSpPr>
        <p:spPr>
          <a:xfrm>
            <a:off x="597069" y="4710640"/>
            <a:ext cx="5879931" cy="903514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CB583C58-E00C-C31F-2CD2-C10F7F413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7682D8-8A68-06E3-262F-3E9CD06C6D75}"/>
              </a:ext>
            </a:extLst>
          </p:cNvPr>
          <p:cNvCxnSpPr>
            <a:cxnSpLocks/>
          </p:cNvCxnSpPr>
          <p:nvPr/>
        </p:nvCxnSpPr>
        <p:spPr>
          <a:xfrm>
            <a:off x="6295295" y="2917371"/>
            <a:ext cx="583961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366B3F3-4EA2-7D90-5BB5-24448A8B6362}"/>
              </a:ext>
            </a:extLst>
          </p:cNvPr>
          <p:cNvSpPr txBox="1"/>
          <p:nvPr/>
        </p:nvSpPr>
        <p:spPr>
          <a:xfrm>
            <a:off x="6895955" y="1731312"/>
            <a:ext cx="514580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Discount Adjustment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users to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simulate different discount levels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a slider.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analyze how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discounts impact profitability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Profit Margin Impact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profit margin after applying the selected discount change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the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percentage drop in margin caused by increased discounts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 Actual vs Predicted Profit by Segment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profit with predicted profit after discount adjustments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impact across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Consumer, Corporate, and Home Office segments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 Profit Sensitivity Curve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how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changes as discount levels increase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the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 where higher discounts start reducing profitability significantly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9747A4-8260-D896-D98C-E69DA4084EC9}"/>
              </a:ext>
            </a:extLst>
          </p:cNvPr>
          <p:cNvCxnSpPr>
            <a:cxnSpLocks/>
          </p:cNvCxnSpPr>
          <p:nvPr/>
        </p:nvCxnSpPr>
        <p:spPr>
          <a:xfrm>
            <a:off x="6224909" y="3744686"/>
            <a:ext cx="583961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C5B01B6-803C-6993-68D9-FD94C061901E}"/>
              </a:ext>
            </a:extLst>
          </p:cNvPr>
          <p:cNvCxnSpPr>
            <a:cxnSpLocks/>
          </p:cNvCxnSpPr>
          <p:nvPr/>
        </p:nvCxnSpPr>
        <p:spPr>
          <a:xfrm>
            <a:off x="6074744" y="4963886"/>
            <a:ext cx="80451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FDB13B2-EADA-639D-40B1-0E5ED1B192F5}"/>
              </a:ext>
            </a:extLst>
          </p:cNvPr>
          <p:cNvSpPr/>
          <p:nvPr/>
        </p:nvSpPr>
        <p:spPr>
          <a:xfrm>
            <a:off x="597069" y="3139094"/>
            <a:ext cx="5879931" cy="1349822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E02FFE-AE68-AC5A-8611-D718E48DC3BE}"/>
              </a:ext>
            </a:extLst>
          </p:cNvPr>
          <p:cNvSpPr/>
          <p:nvPr/>
        </p:nvSpPr>
        <p:spPr>
          <a:xfrm>
            <a:off x="4192346" y="2160813"/>
            <a:ext cx="2284653" cy="858539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777CA14-8647-3123-1EB3-7BC25C52C055}"/>
              </a:ext>
            </a:extLst>
          </p:cNvPr>
          <p:cNvCxnSpPr>
            <a:cxnSpLocks/>
          </p:cNvCxnSpPr>
          <p:nvPr/>
        </p:nvCxnSpPr>
        <p:spPr>
          <a:xfrm>
            <a:off x="1379579" y="2548748"/>
            <a:ext cx="5499677" cy="4133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268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7E5D-A256-5D89-77D0-E4F76456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8E4A14-E174-A833-642E-823003851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771" r="40671" b="59954"/>
          <a:stretch>
            <a:fillRect/>
          </a:stretch>
        </p:blipFill>
        <p:spPr>
          <a:xfrm>
            <a:off x="541944" y="1981200"/>
            <a:ext cx="3572855" cy="103815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5CAE95-5785-1E75-9429-3755DFA18A4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EE32BCA-7644-60BC-912B-523D69D4D977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9509632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– What if Analysis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2ED5F5-CDD8-1B3F-CBA6-9883517AB06C}"/>
              </a:ext>
            </a:extLst>
          </p:cNvPr>
          <p:cNvSpPr/>
          <p:nvPr/>
        </p:nvSpPr>
        <p:spPr>
          <a:xfrm>
            <a:off x="619492" y="2180126"/>
            <a:ext cx="3495307" cy="737245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618959D0-C2E6-13FD-B69B-803E6F3C2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976AB74-AF0C-AA12-6BB8-C91375436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5715" y="2365605"/>
            <a:ext cx="428897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can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 or adjust discount %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simulate pricing scenarios. Dashboard dynamically updates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profit and margin impact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66F48C7-EDF7-C4A0-2642-64E54838BA05}"/>
              </a:ext>
            </a:extLst>
          </p:cNvPr>
          <p:cNvCxnSpPr>
            <a:cxnSpLocks/>
          </p:cNvCxnSpPr>
          <p:nvPr/>
        </p:nvCxnSpPr>
        <p:spPr>
          <a:xfrm>
            <a:off x="1018418" y="2688771"/>
            <a:ext cx="594843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671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FEC5E-F9C2-643B-CD1F-3914C5031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DA08B3-2484-86C1-261D-E85DE5F21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42" y="782652"/>
            <a:ext cx="5998157" cy="504639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AE98B2-8ECE-F8C2-A8B3-62841C741B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7080E96A-AEA0-A36A-66D7-7A0EAEBC226C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9509632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– Pareto Analysis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138C2F-54D2-0C9A-A017-88BCC0DBCC0A}"/>
              </a:ext>
            </a:extLst>
          </p:cNvPr>
          <p:cNvSpPr/>
          <p:nvPr/>
        </p:nvSpPr>
        <p:spPr>
          <a:xfrm>
            <a:off x="619492" y="2013862"/>
            <a:ext cx="6016181" cy="1831608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E4B12A-F220-6BD7-DA86-6157E889B40F}"/>
              </a:ext>
            </a:extLst>
          </p:cNvPr>
          <p:cNvSpPr/>
          <p:nvPr/>
        </p:nvSpPr>
        <p:spPr>
          <a:xfrm>
            <a:off x="597069" y="4223659"/>
            <a:ext cx="5879931" cy="1605389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89AD9FF0-0D58-5828-EE3E-33A8336F9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2475C47-002C-74EB-D93E-77F58C203B0F}"/>
              </a:ext>
            </a:extLst>
          </p:cNvPr>
          <p:cNvSpPr txBox="1"/>
          <p:nvPr/>
        </p:nvSpPr>
        <p:spPr>
          <a:xfrm>
            <a:off x="7010400" y="1552989"/>
            <a:ext cx="503136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Customer Sales Contribution (Pareto Chart)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customer-wise sales contribution ranked from highest to lowest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cumulative percentage line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identify the customers driving most of the revenue.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apply the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80/20 Pareto principle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identify high-value customers.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Top Customers by Sales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customers contributing to total sales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ID, Customer Name, Total Sales, Profit, and Margin %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customers generating the majority of revenue and profit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B35652-DA70-AF98-1CC2-F8A78E4FB07E}"/>
              </a:ext>
            </a:extLst>
          </p:cNvPr>
          <p:cNvCxnSpPr>
            <a:cxnSpLocks/>
          </p:cNvCxnSpPr>
          <p:nvPr/>
        </p:nvCxnSpPr>
        <p:spPr>
          <a:xfrm>
            <a:off x="6074744" y="4963886"/>
            <a:ext cx="80451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D472DB-BE40-33B0-C345-68C6C8726A50}"/>
              </a:ext>
            </a:extLst>
          </p:cNvPr>
          <p:cNvCxnSpPr>
            <a:cxnSpLocks/>
          </p:cNvCxnSpPr>
          <p:nvPr/>
        </p:nvCxnSpPr>
        <p:spPr>
          <a:xfrm>
            <a:off x="5982070" y="2165539"/>
            <a:ext cx="91388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125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11D17-239D-D125-E31A-CEE269889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9D88FE6-DAD8-13D9-F2BF-C0C517052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57" y="795956"/>
            <a:ext cx="6182700" cy="514965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E47048-7043-97AE-7B9A-DC9ABFE05B5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5458AC62-47F5-1F67-0EEE-A8AC5A0CAD3E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9509632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Analysis - Overview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EF9017-F50C-9330-0851-F7F6B8AEC48F}"/>
              </a:ext>
            </a:extLst>
          </p:cNvPr>
          <p:cNvSpPr/>
          <p:nvPr/>
        </p:nvSpPr>
        <p:spPr>
          <a:xfrm>
            <a:off x="586706" y="1828800"/>
            <a:ext cx="1329180" cy="1495126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2C7E08-667C-F549-6076-EC8390A6F4B2}"/>
              </a:ext>
            </a:extLst>
          </p:cNvPr>
          <p:cNvSpPr/>
          <p:nvPr/>
        </p:nvSpPr>
        <p:spPr>
          <a:xfrm>
            <a:off x="586706" y="3487545"/>
            <a:ext cx="6182699" cy="1139434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AD1531C3-38D2-1D09-73FC-25941EDF9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D082085-ED81-7FB1-955F-B0FEDC25B79A}"/>
              </a:ext>
            </a:extLst>
          </p:cNvPr>
          <p:cNvSpPr txBox="1"/>
          <p:nvPr/>
        </p:nvSpPr>
        <p:spPr>
          <a:xfrm>
            <a:off x="7062669" y="1139332"/>
            <a:ext cx="503136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KPI Cards</a:t>
            </a: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Customers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Displays the total number of unique customers.</a:t>
            </a: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($)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Total revenue generated from all customers.</a:t>
            </a: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Revenue per Customer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Average revenue contribution per customer.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Customer Count by Segment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of customers across RFM segments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(Low Value, At Risk, Loyal Customers, Champions, Potential Loyalists).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understand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base composition and engagement levels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Top Salesperson by Sales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of top salespersons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contribution by different customer segments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handled by each salesperson.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Top Customers by Revenue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10 customers contributing the highest revenue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highlight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customers driving overall sales performance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Revenue Contribution by Segment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generated by each customer segment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customer groups contribute the most revenue and where retention strategies are needed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B9F71F-9868-C45D-6046-5F7E53C806EB}"/>
              </a:ext>
            </a:extLst>
          </p:cNvPr>
          <p:cNvCxnSpPr>
            <a:cxnSpLocks/>
          </p:cNvCxnSpPr>
          <p:nvPr/>
        </p:nvCxnSpPr>
        <p:spPr>
          <a:xfrm>
            <a:off x="6477000" y="4223657"/>
            <a:ext cx="585669" cy="57194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339929-10C7-5AC8-A46C-28BA89B7AF40}"/>
              </a:ext>
            </a:extLst>
          </p:cNvPr>
          <p:cNvCxnSpPr>
            <a:cxnSpLocks/>
          </p:cNvCxnSpPr>
          <p:nvPr/>
        </p:nvCxnSpPr>
        <p:spPr>
          <a:xfrm>
            <a:off x="1704218" y="1915168"/>
            <a:ext cx="5358451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6E79365-8EC2-CD31-C5B5-777282124DF4}"/>
              </a:ext>
            </a:extLst>
          </p:cNvPr>
          <p:cNvSpPr/>
          <p:nvPr/>
        </p:nvSpPr>
        <p:spPr>
          <a:xfrm>
            <a:off x="1966094" y="1828800"/>
            <a:ext cx="2214020" cy="1495126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E67A5-6108-4143-5AE7-ACA081D3D5A6}"/>
              </a:ext>
            </a:extLst>
          </p:cNvPr>
          <p:cNvSpPr/>
          <p:nvPr/>
        </p:nvSpPr>
        <p:spPr>
          <a:xfrm>
            <a:off x="4294558" y="1828800"/>
            <a:ext cx="2474847" cy="1495126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03CE7E-38D1-DD3F-4314-39F30EBCAFBF}"/>
              </a:ext>
            </a:extLst>
          </p:cNvPr>
          <p:cNvSpPr/>
          <p:nvPr/>
        </p:nvSpPr>
        <p:spPr>
          <a:xfrm>
            <a:off x="571132" y="4795598"/>
            <a:ext cx="6182699" cy="1139434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5FFCED5-690D-B4B1-073D-275F1A3ACAAA}"/>
              </a:ext>
            </a:extLst>
          </p:cNvPr>
          <p:cNvCxnSpPr>
            <a:cxnSpLocks/>
          </p:cNvCxnSpPr>
          <p:nvPr/>
        </p:nvCxnSpPr>
        <p:spPr>
          <a:xfrm>
            <a:off x="3678055" y="2894883"/>
            <a:ext cx="338461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9C1302-000E-6527-5859-44173FF3873F}"/>
              </a:ext>
            </a:extLst>
          </p:cNvPr>
          <p:cNvCxnSpPr>
            <a:cxnSpLocks/>
          </p:cNvCxnSpPr>
          <p:nvPr/>
        </p:nvCxnSpPr>
        <p:spPr>
          <a:xfrm>
            <a:off x="5522762" y="3134369"/>
            <a:ext cx="1539907" cy="46880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EFDF462-3486-5BC2-D596-08E42BB874F7}"/>
              </a:ext>
            </a:extLst>
          </p:cNvPr>
          <p:cNvCxnSpPr>
            <a:cxnSpLocks/>
          </p:cNvCxnSpPr>
          <p:nvPr/>
        </p:nvCxnSpPr>
        <p:spPr>
          <a:xfrm>
            <a:off x="6336565" y="5162893"/>
            <a:ext cx="585669" cy="57194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743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1D67C-2AF4-5015-F74A-307B3BBD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5C97F4-DC33-EE41-E2FA-DA4FED9E9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06" y="812067"/>
            <a:ext cx="6395728" cy="526297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1374F1-5643-4F87-4F32-B327C44E0D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8483C1B8-91D7-104C-1C9F-8BBAA813E121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9509632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Analysis – Customer Segmentation (RFM)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B571B733-987F-B1C2-ECBC-C50947BA2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24684E0-B33B-B151-0D50-835C5F2C72A0}"/>
              </a:ext>
            </a:extLst>
          </p:cNvPr>
          <p:cNvSpPr txBox="1"/>
          <p:nvPr/>
        </p:nvSpPr>
        <p:spPr>
          <a:xfrm>
            <a:off x="7062669" y="1139332"/>
            <a:ext cx="50313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Customer Value Matrix (RFM Analysis)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Visualizes customers based on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Recency, Frequency, and Monetary value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Bubble colors represent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RFM segments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such as Champions, Loyal Customers, At Risk, and Low Value.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Customer Engagement (Recency) by Segment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recency score for each customer segment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segments with declining engagement or potential churn risk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Average Frequency by Segment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 frequency across customer segments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highly engaged and repeat-purchase customers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Customer Distribution by Segment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percentage distribution of customers across RFM segments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understand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base composition and segment size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BB1DB09-FD03-AC53-6984-B6A500C9B55C}"/>
              </a:ext>
            </a:extLst>
          </p:cNvPr>
          <p:cNvCxnSpPr>
            <a:cxnSpLocks/>
          </p:cNvCxnSpPr>
          <p:nvPr/>
        </p:nvCxnSpPr>
        <p:spPr>
          <a:xfrm>
            <a:off x="3546784" y="4150102"/>
            <a:ext cx="3581788" cy="717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8D3E6B0-04FA-7807-F9AE-1F70C609040A}"/>
              </a:ext>
            </a:extLst>
          </p:cNvPr>
          <p:cNvSpPr/>
          <p:nvPr/>
        </p:nvSpPr>
        <p:spPr>
          <a:xfrm>
            <a:off x="1275874" y="2082490"/>
            <a:ext cx="3732635" cy="1495126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C53605-1944-F960-346E-5DF40AAD0174}"/>
              </a:ext>
            </a:extLst>
          </p:cNvPr>
          <p:cNvSpPr/>
          <p:nvPr/>
        </p:nvSpPr>
        <p:spPr>
          <a:xfrm>
            <a:off x="5094514" y="2118523"/>
            <a:ext cx="1741716" cy="1495126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8342C7-BE0A-F195-BFC8-E25FE8ED66B7}"/>
              </a:ext>
            </a:extLst>
          </p:cNvPr>
          <p:cNvSpPr/>
          <p:nvPr/>
        </p:nvSpPr>
        <p:spPr>
          <a:xfrm>
            <a:off x="619279" y="3776459"/>
            <a:ext cx="3560836" cy="1495125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4A44BC-855D-E809-8C74-28870A4DAB92}"/>
              </a:ext>
            </a:extLst>
          </p:cNvPr>
          <p:cNvCxnSpPr>
            <a:cxnSpLocks/>
          </p:cNvCxnSpPr>
          <p:nvPr/>
        </p:nvCxnSpPr>
        <p:spPr>
          <a:xfrm flipV="1">
            <a:off x="4112403" y="1655272"/>
            <a:ext cx="2950266" cy="61912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177252A-F06F-1D94-8597-E7B504CD384E}"/>
              </a:ext>
            </a:extLst>
          </p:cNvPr>
          <p:cNvCxnSpPr>
            <a:cxnSpLocks/>
          </p:cNvCxnSpPr>
          <p:nvPr/>
        </p:nvCxnSpPr>
        <p:spPr>
          <a:xfrm>
            <a:off x="5707046" y="2299765"/>
            <a:ext cx="1355623" cy="39184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E81D59E-C287-88D0-CB81-C9D2C561BED6}"/>
              </a:ext>
            </a:extLst>
          </p:cNvPr>
          <p:cNvCxnSpPr>
            <a:cxnSpLocks/>
          </p:cNvCxnSpPr>
          <p:nvPr/>
        </p:nvCxnSpPr>
        <p:spPr>
          <a:xfrm>
            <a:off x="6336565" y="5152007"/>
            <a:ext cx="79200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F8E6D0D-2D44-E2B5-7D42-97D9AE838F42}"/>
              </a:ext>
            </a:extLst>
          </p:cNvPr>
          <p:cNvSpPr/>
          <p:nvPr/>
        </p:nvSpPr>
        <p:spPr>
          <a:xfrm>
            <a:off x="4272888" y="3776456"/>
            <a:ext cx="2563342" cy="1495127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7958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CA24D-EB8B-42D5-A669-7FEF0B88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EB3AE3-5C70-F65A-B7E6-2DDA7F1A1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06" y="812067"/>
            <a:ext cx="6395728" cy="526297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30528E-7B07-A741-3C33-0F8ED775C19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5CFD6CB-5029-2F44-F843-F495285194B6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9509632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Analysis – Customer Segmentation (RFM)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7387DEC7-65E6-A41A-E341-55F18F993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D946550-1C25-664E-8E81-2C3D2E515D9D}"/>
              </a:ext>
            </a:extLst>
          </p:cNvPr>
          <p:cNvSpPr/>
          <p:nvPr/>
        </p:nvSpPr>
        <p:spPr>
          <a:xfrm>
            <a:off x="619280" y="2082490"/>
            <a:ext cx="610806" cy="1495126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AC2F2D-D4DC-4A8A-F923-D085A67DFAE7}"/>
              </a:ext>
            </a:extLst>
          </p:cNvPr>
          <p:cNvSpPr/>
          <p:nvPr/>
        </p:nvSpPr>
        <p:spPr>
          <a:xfrm>
            <a:off x="5094514" y="2118523"/>
            <a:ext cx="1741716" cy="308989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26235B2-6BBB-D0DF-E16E-987469B6BCC4}"/>
              </a:ext>
            </a:extLst>
          </p:cNvPr>
          <p:cNvCxnSpPr>
            <a:cxnSpLocks/>
          </p:cNvCxnSpPr>
          <p:nvPr/>
        </p:nvCxnSpPr>
        <p:spPr>
          <a:xfrm>
            <a:off x="4838903" y="1939149"/>
            <a:ext cx="309190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E674990-2B59-BAA8-C429-D930E074A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3029" y="1071225"/>
            <a:ext cx="3958341" cy="4306318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330B70ED-6107-9F10-E23A-290AA1751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8572" y="1071225"/>
            <a:ext cx="68579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Scoring Metric System (Bonus)</a:t>
            </a:r>
          </a:p>
        </p:txBody>
      </p:sp>
    </p:spTree>
    <p:extLst>
      <p:ext uri="{BB962C8B-B14F-4D97-AF65-F5344CB8AC3E}">
        <p14:creationId xmlns:p14="http://schemas.microsoft.com/office/powerpoint/2010/main" val="2186247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54121-E38B-959B-429F-BA284669A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46E278-A92B-FDE6-7224-D56F2D4FA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06" y="812067"/>
            <a:ext cx="6395728" cy="526297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B6974A-0E81-4924-05BA-92DF55BE2EF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9E575DB-6391-E399-C313-9860C31EB955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9509632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Analysis – Customer Segmentation (RFM)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BAB5DC40-2B47-DA0E-A93A-07617FDD2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AE4FC5D-50CE-1BB5-3354-70DBF10B763D}"/>
              </a:ext>
            </a:extLst>
          </p:cNvPr>
          <p:cNvSpPr/>
          <p:nvPr/>
        </p:nvSpPr>
        <p:spPr>
          <a:xfrm>
            <a:off x="619280" y="2082490"/>
            <a:ext cx="610806" cy="1495126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AFCDEA-B14E-496A-7F73-18C968F643C9}"/>
              </a:ext>
            </a:extLst>
          </p:cNvPr>
          <p:cNvSpPr/>
          <p:nvPr/>
        </p:nvSpPr>
        <p:spPr>
          <a:xfrm>
            <a:off x="5094514" y="2118523"/>
            <a:ext cx="1741716" cy="308989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4409FB5-F7BF-1DA0-EB11-1A10EF2C8F6C}"/>
              </a:ext>
            </a:extLst>
          </p:cNvPr>
          <p:cNvCxnSpPr>
            <a:cxnSpLocks/>
          </p:cNvCxnSpPr>
          <p:nvPr/>
        </p:nvCxnSpPr>
        <p:spPr>
          <a:xfrm>
            <a:off x="6569732" y="2276606"/>
            <a:ext cx="309190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015AECB-F1DB-2EEB-5494-2CA811F496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896"/>
          <a:stretch>
            <a:fillRect/>
          </a:stretch>
        </p:blipFill>
        <p:spPr>
          <a:xfrm>
            <a:off x="9807109" y="954176"/>
            <a:ext cx="1959106" cy="22047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8D45FE-CDC1-D848-6179-813886A8E8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2938" y="3247612"/>
            <a:ext cx="2165444" cy="2369415"/>
          </a:xfrm>
          <a:prstGeom prst="rect">
            <a:avLst/>
          </a:prstGeom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5B023A30-B105-F5EF-383D-9C353A519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0328" y="2384630"/>
            <a:ext cx="252733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Toggle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R, F, and 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view detailed customer insights for each metric.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focused analysis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engagement, purchase frequency, and revenue contribution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8071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CC1D-942C-792B-9624-B06A60781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F231DA-B082-0ADF-A8FA-69427ADC7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06" y="812067"/>
            <a:ext cx="6395728" cy="526297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4A36016-CA11-8653-9E8B-87CCCC8C7F8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1A8E493-2162-AEED-46B7-06C145CC7431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9509632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Analysis – Customer Segmentation (RFM)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42061CEB-60CB-A534-F666-A938BEBAA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54E6909-239D-BE99-6020-E4D9F44B6F02}"/>
              </a:ext>
            </a:extLst>
          </p:cNvPr>
          <p:cNvSpPr/>
          <p:nvPr/>
        </p:nvSpPr>
        <p:spPr>
          <a:xfrm>
            <a:off x="619280" y="2082490"/>
            <a:ext cx="610806" cy="1495126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D7553-3437-FFA2-FBDF-40C8A1701A69}"/>
              </a:ext>
            </a:extLst>
          </p:cNvPr>
          <p:cNvSpPr/>
          <p:nvPr/>
        </p:nvSpPr>
        <p:spPr>
          <a:xfrm>
            <a:off x="4539342" y="2067414"/>
            <a:ext cx="511629" cy="308988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4CB70A-8785-7917-E92C-B92FBF4DCC22}"/>
              </a:ext>
            </a:extLst>
          </p:cNvPr>
          <p:cNvCxnSpPr>
            <a:cxnSpLocks/>
          </p:cNvCxnSpPr>
          <p:nvPr/>
        </p:nvCxnSpPr>
        <p:spPr>
          <a:xfrm>
            <a:off x="4925989" y="2267212"/>
            <a:ext cx="309190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14DD51D-4F94-80C0-F94E-6BE3ED569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6591" y="1405508"/>
            <a:ext cx="3755241" cy="229185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DCB76C-4BEA-56F2-9BA2-69C42C3A2437}"/>
              </a:ext>
            </a:extLst>
          </p:cNvPr>
          <p:cNvCxnSpPr>
            <a:cxnSpLocks/>
          </p:cNvCxnSpPr>
          <p:nvPr/>
        </p:nvCxnSpPr>
        <p:spPr>
          <a:xfrm>
            <a:off x="1028903" y="3116297"/>
            <a:ext cx="6988994" cy="20870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Rectangle 3">
            <a:extLst>
              <a:ext uri="{FF2B5EF4-FFF2-40B4-BE49-F238E27FC236}">
                <a16:creationId xmlns:a16="http://schemas.microsoft.com/office/drawing/2014/main" id="{EE3FCA1A-4CA8-C972-E7C4-C72CE7073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6591" y="5002431"/>
            <a:ext cx="14301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Slicers</a:t>
            </a:r>
          </a:p>
        </p:txBody>
      </p:sp>
    </p:spTree>
    <p:extLst>
      <p:ext uri="{BB962C8B-B14F-4D97-AF65-F5344CB8AC3E}">
        <p14:creationId xmlns:p14="http://schemas.microsoft.com/office/powerpoint/2010/main" val="27495114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D28C8-72A5-F771-20D5-C077BB170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762767-9B69-8C2E-626A-33881E52A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48" y="751427"/>
            <a:ext cx="6358466" cy="511895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7C2F04-89D5-4726-E91F-8B791E7D386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68E23FE-399A-16D3-4401-B5DC2F1F7259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9509632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Analysis – Customer Acquisition &amp; Sales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F3BFFB4A-2DA4-5729-47EE-FF8556D60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FC694D1-4A0D-5B78-632F-666856DBD456}"/>
              </a:ext>
            </a:extLst>
          </p:cNvPr>
          <p:cNvSpPr txBox="1"/>
          <p:nvPr/>
        </p:nvSpPr>
        <p:spPr>
          <a:xfrm>
            <a:off x="7128572" y="1179207"/>
            <a:ext cx="50313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KPI Cards</a:t>
            </a: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Customers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Total number of newly acquired customers.</a:t>
            </a: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from New Customers ($)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Revenue generated from newly acquired customers.</a:t>
            </a: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Customer Quantity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Total orders placed by new customers.</a:t>
            </a: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Discount Offered (%)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Average discount provided to new customers.</a:t>
            </a:r>
          </a:p>
          <a:p>
            <a:b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Sales Contribution by Customer Type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share between existing and new customers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understand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much revenue is driven by newly acquired customers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New Customer Acquisition Trend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trend of new customer acquisition over time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growth patterns and acquisition spikes during the year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Top Salespersons by Sales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top-performing salespersons based on sales contribution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their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distribution across different customer segments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b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Salesperson Performance Summary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detailed comparison of top salespersons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quantity sold, total sales, new customers acquired, and average discount offered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10AA8F-5A8A-4701-74B6-6D7F709C2E9B}"/>
              </a:ext>
            </a:extLst>
          </p:cNvPr>
          <p:cNvCxnSpPr>
            <a:cxnSpLocks/>
          </p:cNvCxnSpPr>
          <p:nvPr/>
        </p:nvCxnSpPr>
        <p:spPr>
          <a:xfrm>
            <a:off x="2894869" y="2619347"/>
            <a:ext cx="4176234" cy="1299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8019ED2-9E23-B971-C41A-A0E2773D4F13}"/>
              </a:ext>
            </a:extLst>
          </p:cNvPr>
          <p:cNvSpPr/>
          <p:nvPr/>
        </p:nvSpPr>
        <p:spPr>
          <a:xfrm>
            <a:off x="723523" y="1616982"/>
            <a:ext cx="6112707" cy="501541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C4615C-664A-DFA0-7515-C19E1BF37991}"/>
              </a:ext>
            </a:extLst>
          </p:cNvPr>
          <p:cNvSpPr/>
          <p:nvPr/>
        </p:nvSpPr>
        <p:spPr>
          <a:xfrm>
            <a:off x="712637" y="2199926"/>
            <a:ext cx="2509534" cy="1350916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839EB7-3F64-FD88-FCCD-F0BB28149344}"/>
              </a:ext>
            </a:extLst>
          </p:cNvPr>
          <p:cNvSpPr/>
          <p:nvPr/>
        </p:nvSpPr>
        <p:spPr>
          <a:xfrm>
            <a:off x="619279" y="3776459"/>
            <a:ext cx="6112706" cy="963019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702DE5-E4A1-A7D6-DBCD-3622E427B1BF}"/>
              </a:ext>
            </a:extLst>
          </p:cNvPr>
          <p:cNvCxnSpPr>
            <a:cxnSpLocks/>
          </p:cNvCxnSpPr>
          <p:nvPr/>
        </p:nvCxnSpPr>
        <p:spPr>
          <a:xfrm>
            <a:off x="6621446" y="1837974"/>
            <a:ext cx="50712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6A1559B-F49C-F12E-85A2-4D2F1ECF00E6}"/>
              </a:ext>
            </a:extLst>
          </p:cNvPr>
          <p:cNvCxnSpPr>
            <a:cxnSpLocks/>
          </p:cNvCxnSpPr>
          <p:nvPr/>
        </p:nvCxnSpPr>
        <p:spPr>
          <a:xfrm>
            <a:off x="6310031" y="5424150"/>
            <a:ext cx="79200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70E318B-E893-838B-B8EA-702E80F320ED}"/>
              </a:ext>
            </a:extLst>
          </p:cNvPr>
          <p:cNvSpPr/>
          <p:nvPr/>
        </p:nvSpPr>
        <p:spPr>
          <a:xfrm>
            <a:off x="685733" y="4821136"/>
            <a:ext cx="6112706" cy="842511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67C986-93D3-9EEB-8CA8-5B302797338A}"/>
              </a:ext>
            </a:extLst>
          </p:cNvPr>
          <p:cNvSpPr/>
          <p:nvPr/>
        </p:nvSpPr>
        <p:spPr>
          <a:xfrm>
            <a:off x="3420646" y="2287549"/>
            <a:ext cx="3415583" cy="1263290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28CD33-97E7-45CD-3227-AEB157B6D94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011721" y="3174126"/>
            <a:ext cx="2116851" cy="4519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FE1AD8E-500C-1C94-7328-8A3D9742A554}"/>
              </a:ext>
            </a:extLst>
          </p:cNvPr>
          <p:cNvCxnSpPr>
            <a:cxnSpLocks/>
          </p:cNvCxnSpPr>
          <p:nvPr/>
        </p:nvCxnSpPr>
        <p:spPr>
          <a:xfrm>
            <a:off x="6455401" y="4546338"/>
            <a:ext cx="712593" cy="201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023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0D968-39FE-8BEA-FE56-2F8F73252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FF33EE-A5ED-61F9-4C05-2F0222B3C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48" y="751427"/>
            <a:ext cx="6358466" cy="511895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92F81F-13CF-08D9-0AB0-DF4778FAAB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026011" y="4365531"/>
            <a:ext cx="2851033" cy="158675"/>
          </a:xfrm>
        </p:spPr>
        <p:txBody>
          <a:bodyPr/>
          <a:lstStyle/>
          <a:p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FurniturePro Sales &amp; Customer Insights Analysis</a:t>
            </a:r>
            <a:endParaRPr lang="en-US" sz="800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21ABF5AC-EC2A-27D0-2575-0104831B9812}"/>
              </a:ext>
            </a:extLst>
          </p:cNvPr>
          <p:cNvSpPr txBox="1">
            <a:spLocks/>
          </p:cNvSpPr>
          <p:nvPr/>
        </p:nvSpPr>
        <p:spPr>
          <a:xfrm>
            <a:off x="320168" y="203842"/>
            <a:ext cx="9509632" cy="6586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Analysis – Customer Acquisition &amp; Sales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BCG Logo and symbol, meaning, history, PNG, brand">
            <a:extLst>
              <a:ext uri="{FF2B5EF4-FFF2-40B4-BE49-F238E27FC236}">
                <a16:creationId xmlns:a16="http://schemas.microsoft.com/office/drawing/2014/main" id="{B620C431-EB2F-EA74-43AE-B59F28740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" y="6096002"/>
            <a:ext cx="1606247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92D75E-9CC3-7CE3-1F15-67A1F6D87F78}"/>
              </a:ext>
            </a:extLst>
          </p:cNvPr>
          <p:cNvSpPr/>
          <p:nvPr/>
        </p:nvSpPr>
        <p:spPr>
          <a:xfrm>
            <a:off x="619279" y="3776459"/>
            <a:ext cx="6112706" cy="963019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D8704E-4621-F4DE-DF15-344F9450460D}"/>
              </a:ext>
            </a:extLst>
          </p:cNvPr>
          <p:cNvCxnSpPr>
            <a:cxnSpLocks/>
          </p:cNvCxnSpPr>
          <p:nvPr/>
        </p:nvCxnSpPr>
        <p:spPr>
          <a:xfrm>
            <a:off x="6455401" y="4546338"/>
            <a:ext cx="145302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604B7AD-A0BF-B29B-A5D4-188ED90D7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756" y="3310906"/>
            <a:ext cx="3689473" cy="2358523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E45E7B3B-705A-5E56-8FC2-B92F39B036ED}"/>
              </a:ext>
            </a:extLst>
          </p:cNvPr>
          <p:cNvSpPr txBox="1">
            <a:spLocks/>
          </p:cNvSpPr>
          <p:nvPr/>
        </p:nvSpPr>
        <p:spPr>
          <a:xfrm>
            <a:off x="6791681" y="4266704"/>
            <a:ext cx="1116746" cy="35386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Gill Sans Light" panose="020B0302020104020203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Hover on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579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5">
      <a:dk1>
        <a:srgbClr val="3F3F3F"/>
      </a:dk1>
      <a:lt1>
        <a:srgbClr val="FFFFFF"/>
      </a:lt1>
      <a:dk2>
        <a:srgbClr val="000000"/>
      </a:dk2>
      <a:lt2>
        <a:srgbClr val="A5A5A5"/>
      </a:lt2>
      <a:accent1>
        <a:srgbClr val="00194C"/>
      </a:accent1>
      <a:accent2>
        <a:srgbClr val="EAB200"/>
      </a:accent2>
      <a:accent3>
        <a:srgbClr val="DDDDDD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ustom 28">
      <a:majorFont>
        <a:latin typeface="Gill Sans MT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vel Presentation_win32_v2" id="{1F3BE848-A059-4AF4-89B2-3C575AFD7A20}" vid="{A68E0537-505F-4C11-B0E8-DA8640CB4D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Klassify>
  <SNO>1</SNO>
  <KDate>2026-03-13 23:16:28</KDate>
  <Classification>INTERNAL</Classification>
  <Subclassification/>
  <HostName>CBTL015</HostName>
  <Domain_User>COURSE5/saranya.nair</Domain_User>
  <IPAdd>192.168.220.4</IPAdd>
  <FilePath>Presentation1</FilePath>
  <KID>A002A5B6B8FE639090405889843573</KID>
  <UniqueName/>
  <Suggested/>
  <Justification/>
  <KlassifyGUID>c3d682da-c048-4cb7-a500-ec6b4a475edc</KlassifyGUID>
</Klassify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A2C8A6-245C-43CD-8FE0-993BE1969EF6}">
  <ds:schemaRefs/>
</ds:datastoreItem>
</file>

<file path=customXml/itemProps2.xml><?xml version="1.0" encoding="utf-8"?>
<ds:datastoreItem xmlns:ds="http://schemas.openxmlformats.org/officeDocument/2006/customXml" ds:itemID="{AA88F49E-C42F-4822-8376-318FB5D7679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4ED8A25-70CA-4AFB-A0DB-C391ACAAD2C4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AC5179A-B9B5-4229-BCDD-2E1CD5D344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Travel presentation</Template>
  <TotalTime>206</TotalTime>
  <Words>2208</Words>
  <Application>Microsoft Office PowerPoint</Application>
  <PresentationFormat>Widescreen</PresentationFormat>
  <Paragraphs>356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Aptos</vt:lpstr>
      <vt:lpstr>Arial</vt:lpstr>
      <vt:lpstr>Calibri</vt:lpstr>
      <vt:lpstr>Gill Sans MT</vt:lpstr>
      <vt:lpstr>Gill Sans Nova Light</vt:lpstr>
      <vt:lpstr>Helvetica Light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Saranya Nair</dc:creator>
  <cp:keywords>INTERNAL</cp:keywords>
  <cp:lastModifiedBy>Saranya Nair</cp:lastModifiedBy>
  <cp:revision>4</cp:revision>
  <dcterms:created xsi:type="dcterms:W3CDTF">2026-03-13T17:14:49Z</dcterms:created>
  <dcterms:modified xsi:type="dcterms:W3CDTF">2026-03-15T18:21:32Z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KlassifyGUID">
    <vt:lpwstr>c3d682da-c048-4cb7-a500-ec6b4a475edc</vt:lpwstr>
  </property>
  <property fmtid="{D5CDD505-2E9C-101B-9397-08002B2CF9AE}" pid="4" name="Classification">
    <vt:lpwstr>INTERNAL</vt:lpwstr>
  </property>
  <property fmtid="{D5CDD505-2E9C-101B-9397-08002B2CF9AE}" pid="5" name="KID">
    <vt:lpwstr>A002A5B6B8FE639090405889843573</vt:lpwstr>
  </property>
</Properties>
</file>